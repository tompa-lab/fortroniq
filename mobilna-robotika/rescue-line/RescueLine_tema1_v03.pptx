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F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TQ_krug"/>
          <p:cNvSpPr/>
          <p:nvPr/>
        </p:nvSpPr>
        <p:spPr>
          <a:xfrm>
            <a:off x="7680960" y="-1097280"/>
            <a:ext cx="6400800" cy="6400800"/>
          </a:xfrm>
          <a:prstGeom prst="ellipse">
            <a:avLst/>
          </a:prstGeom>
          <a:solidFill>
            <a:srgbClr val="1B6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TQ_krug"/>
          <p:cNvSpPr/>
          <p:nvPr/>
        </p:nvSpPr>
        <p:spPr>
          <a:xfrm>
            <a:off x="9326880" y="2926080"/>
            <a:ext cx="4206240" cy="4206240"/>
          </a:xfrm>
          <a:prstGeom prst="ellipse">
            <a:avLst/>
          </a:prstGeom>
          <a:solidFill>
            <a:srgbClr val="176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TQ_pod1"/>
          <p:cNvSpPr txBox="1"/>
          <p:nvPr/>
        </p:nvSpPr>
        <p:spPr>
          <a:xfrm>
            <a:off x="457200" y="6355080"/>
            <a:ext cx="2286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FFFFFF"/>
                </a:solidFill>
                <a:latin typeface="Calibri"/>
              </a:rPr>
              <a:t>FORTRONIQ</a:t>
            </a:r>
          </a:p>
        </p:txBody>
      </p:sp>
      <p:sp>
        <p:nvSpPr>
          <p:cNvPr id="5" name="FTQ_pod2"/>
          <p:cNvSpPr txBox="1"/>
          <p:nvPr/>
        </p:nvSpPr>
        <p:spPr>
          <a:xfrm>
            <a:off x="2926080" y="6355080"/>
            <a:ext cx="5486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ADFE2"/>
                </a:solidFill>
                <a:latin typeface="Calibri"/>
              </a:rPr>
              <a:t>© ForTroniQ d.o.o. — Sva prava pridržana</a:t>
            </a:r>
          </a:p>
        </p:txBody>
      </p:sp>
      <p:sp>
        <p:nvSpPr>
          <p:cNvPr id="6" name="FTQ_pod3"/>
          <p:cNvSpPr txBox="1"/>
          <p:nvPr/>
        </p:nvSpPr>
        <p:spPr>
          <a:xfrm>
            <a:off x="8074152" y="6355080"/>
            <a:ext cx="3657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ADFE2"/>
                </a:solidFill>
                <a:latin typeface="Calibri"/>
              </a:rPr>
              <a:t>Rescue Line · Tema 1: praćenje crte</a:t>
            </a:r>
          </a:p>
        </p:txBody>
      </p:sp>
      <p:sp>
        <p:nvSpPr>
          <p:cNvPr id="7" name="FTQ_wordmark"/>
          <p:cNvSpPr txBox="1"/>
          <p:nvPr/>
        </p:nvSpPr>
        <p:spPr>
          <a:xfrm>
            <a:off x="640080" y="548640"/>
            <a:ext cx="36576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r>
              <a:rPr sz="1600" b="1" spc="500">
                <a:solidFill>
                  <a:srgbClr val="FFFFFF"/>
                </a:solidFill>
                <a:latin typeface="Calibri"/>
              </a:rPr>
              <a:t>FORTRONI</a:t>
            </a:r>
            <a:r>
              <a:rPr sz="1600" b="1" spc="500">
                <a:solidFill>
                  <a:srgbClr val="2ECAD4"/>
                </a:solidFill>
                <a:latin typeface="Calibri"/>
              </a:rPr>
              <a:t>Q</a:t>
            </a:r>
          </a:p>
        </p:txBody>
      </p:sp>
      <p:sp>
        <p:nvSpPr>
          <p:cNvPr id="8" name="FTQ_stat"/>
          <p:cNvSpPr txBox="1"/>
          <p:nvPr/>
        </p:nvSpPr>
        <p:spPr>
          <a:xfrm>
            <a:off x="640080" y="2103120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 spc="200">
                <a:solidFill>
                  <a:srgbClr val="2ECAD4"/>
                </a:solidFill>
                <a:latin typeface="Calibri"/>
              </a:rPr>
              <a:t>LEVEL UP STEM · MENTORSKA SESIJA · TEMA 1 OD 5</a:t>
            </a:r>
          </a:p>
        </p:txBody>
      </p:sp>
      <p:sp>
        <p:nvSpPr>
          <p:cNvPr id="9" name="FTQ_stat"/>
          <p:cNvSpPr txBox="1"/>
          <p:nvPr/>
        </p:nvSpPr>
        <p:spPr>
          <a:xfrm>
            <a:off x="640080" y="2560320"/>
            <a:ext cx="7498079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Rescue Line: praćenje crte</a:t>
            </a:r>
          </a:p>
        </p:txBody>
      </p:sp>
      <p:sp>
        <p:nvSpPr>
          <p:cNvPr id="10" name="FTQ_stat"/>
          <p:cNvSpPr txBox="1"/>
          <p:nvPr/>
        </p:nvSpPr>
        <p:spPr>
          <a:xfrm>
            <a:off x="640080" y="4114800"/>
            <a:ext cx="7315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CADFE2"/>
                </a:solidFill>
                <a:latin typeface="Calibri"/>
              </a:rPr>
              <a:t>Kalibracija, PD regulator, rupa, kosina i prepreka — u simulatoru CoppeliaSim i na Microline robotu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CADFE2"/>
                </a:solidFill>
                <a:latin typeface="Calibri"/>
              </a:rPr>
              <a:t>dr.sc. Tomislav Pavlic, mag.ing.mech., Krunoslav Kušec, mag.ing.mech., Alen Britvić, bacc.ing.mech.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TQ_pod1"/>
          <p:cNvSpPr txBox="1"/>
          <p:nvPr/>
        </p:nvSpPr>
        <p:spPr>
          <a:xfrm>
            <a:off x="457200" y="6355080"/>
            <a:ext cx="2286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0394A"/>
                </a:solidFill>
                <a:latin typeface="Calibri"/>
              </a:rPr>
              <a:t>FORTRONIQ</a:t>
            </a:r>
          </a:p>
        </p:txBody>
      </p:sp>
      <p:sp>
        <p:nvSpPr>
          <p:cNvPr id="3" name="FTQ_pod2"/>
          <p:cNvSpPr txBox="1"/>
          <p:nvPr/>
        </p:nvSpPr>
        <p:spPr>
          <a:xfrm>
            <a:off x="2926080" y="6355080"/>
            <a:ext cx="5486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© ForTroniQ d.o.o. — Sva prava pridržana</a:t>
            </a:r>
          </a:p>
        </p:txBody>
      </p:sp>
      <p:sp>
        <p:nvSpPr>
          <p:cNvPr id="4" name="FTQ_pod3"/>
          <p:cNvSpPr txBox="1"/>
          <p:nvPr/>
        </p:nvSpPr>
        <p:spPr>
          <a:xfrm>
            <a:off x="8074152" y="6355080"/>
            <a:ext cx="3657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Rescue Line · Tema 1: praćenje crte</a:t>
            </a:r>
          </a:p>
        </p:txBody>
      </p:sp>
      <p:sp>
        <p:nvSpPr>
          <p:cNvPr id="5" name="FTQ_nad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17656E"/>
                </a:solidFill>
                <a:latin typeface="Calibri"/>
              </a:rPr>
              <a:t>UVOD · KORAK 1/20 · 00:00</a:t>
            </a:r>
          </a:p>
        </p:txBody>
      </p:sp>
      <p:sp>
        <p:nvSpPr>
          <p:cNvPr id="6" name="FTQ_naslov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 spc="-100">
                <a:solidFill>
                  <a:srgbClr val="10394A"/>
                </a:solidFill>
                <a:latin typeface="Calibri"/>
              </a:rPr>
              <a:t>Dobrodošlica i cilj</a:t>
            </a:r>
          </a:p>
        </p:txBody>
      </p:sp>
      <p:sp>
        <p:nvSpPr>
          <p:cNvPr id="7" name="FTQ_ploca"/>
          <p:cNvSpPr/>
          <p:nvPr/>
        </p:nvSpPr>
        <p:spPr>
          <a:xfrm>
            <a:off x="411480" y="1280160"/>
            <a:ext cx="7040880" cy="4000500"/>
          </a:xfrm>
          <a:prstGeom prst="rect">
            <a:avLst/>
          </a:prstGeom>
          <a:solidFill>
            <a:srgbClr val="EEF5F6"/>
          </a:solidFill>
          <a:ln w="12700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FTQ_slika" descr="k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949439" cy="3909059"/>
          </a:xfrm>
          <a:prstGeom prst="rect">
            <a:avLst/>
          </a:prstGeom>
        </p:spPr>
      </p:pic>
      <p:sp>
        <p:nvSpPr>
          <p:cNvPr id="9" name="FTQ_oz"/>
          <p:cNvSpPr txBox="1"/>
          <p:nvPr/>
        </p:nvSpPr>
        <p:spPr>
          <a:xfrm>
            <a:off x="457200" y="5390388"/>
            <a:ext cx="69494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17656E"/>
                </a:solidFill>
                <a:latin typeface="Calibri"/>
              </a:rPr>
              <a:t>NA ZASLONU</a:t>
            </a:r>
          </a:p>
        </p:txBody>
      </p:sp>
      <p:sp>
        <p:nvSpPr>
          <p:cNvPr id="10" name="FTQ_klik"/>
          <p:cNvSpPr txBox="1"/>
          <p:nvPr/>
        </p:nvSpPr>
        <p:spPr>
          <a:xfrm>
            <a:off x="457200" y="5637276"/>
            <a:ext cx="69494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D7C90"/>
                </a:solidFill>
                <a:latin typeface="Calibri"/>
              </a:rPr>
              <a:t>Naslovni slajd; kamera.</a:t>
            </a:r>
          </a:p>
        </p:txBody>
      </p:sp>
      <p:sp>
        <p:nvSpPr>
          <p:cNvPr id="11" name="ANIM_tekst"/>
          <p:cNvSpPr txBox="1"/>
          <p:nvPr/>
        </p:nvSpPr>
        <p:spPr>
          <a:xfrm>
            <a:off x="7726679" y="1325880"/>
            <a:ext cx="400781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Dobar dan svima.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Danas radimo prvu temu koju ste predložili: program za praćenje crte — kalibraciju senzora, rupe, prepreke i kosine.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Cilj je da nakon današnjeg susreta imate program koji to radi, najprije u simulatoru, a zatim na vašem robotu.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Sve što danas pokažemo dobit ćete: scenu za simulator, program, kod za robota i kratke upute.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TQ_pod1"/>
          <p:cNvSpPr txBox="1"/>
          <p:nvPr/>
        </p:nvSpPr>
        <p:spPr>
          <a:xfrm>
            <a:off x="457200" y="6355080"/>
            <a:ext cx="2286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0394A"/>
                </a:solidFill>
                <a:latin typeface="Calibri"/>
              </a:rPr>
              <a:t>FORTRONIQ</a:t>
            </a:r>
          </a:p>
        </p:txBody>
      </p:sp>
      <p:sp>
        <p:nvSpPr>
          <p:cNvPr id="3" name="FTQ_pod2"/>
          <p:cNvSpPr txBox="1"/>
          <p:nvPr/>
        </p:nvSpPr>
        <p:spPr>
          <a:xfrm>
            <a:off x="2926080" y="6355080"/>
            <a:ext cx="5486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© ForTroniQ d.o.o. — Sva prava pridržana</a:t>
            </a:r>
          </a:p>
        </p:txBody>
      </p:sp>
      <p:sp>
        <p:nvSpPr>
          <p:cNvPr id="4" name="FTQ_pod3"/>
          <p:cNvSpPr txBox="1"/>
          <p:nvPr/>
        </p:nvSpPr>
        <p:spPr>
          <a:xfrm>
            <a:off x="8074152" y="6355080"/>
            <a:ext cx="3657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Rescue Line · Tema 1: praćenje crte</a:t>
            </a:r>
          </a:p>
        </p:txBody>
      </p:sp>
      <p:sp>
        <p:nvSpPr>
          <p:cNvPr id="5" name="FTQ_nad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17656E"/>
                </a:solidFill>
                <a:latin typeface="Calibri"/>
              </a:rPr>
              <a:t>UVOD · KORAK 2/20 · 02:00</a:t>
            </a:r>
          </a:p>
        </p:txBody>
      </p:sp>
      <p:sp>
        <p:nvSpPr>
          <p:cNvPr id="6" name="FTQ_naslov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 spc="-100">
                <a:solidFill>
                  <a:srgbClr val="10394A"/>
                </a:solidFill>
                <a:latin typeface="Calibri"/>
              </a:rPr>
              <a:t>Plan susreta</a:t>
            </a:r>
          </a:p>
        </p:txBody>
      </p:sp>
      <p:sp>
        <p:nvSpPr>
          <p:cNvPr id="7" name="FTQ_ploca"/>
          <p:cNvSpPr/>
          <p:nvPr/>
        </p:nvSpPr>
        <p:spPr>
          <a:xfrm>
            <a:off x="411480" y="1280160"/>
            <a:ext cx="7040880" cy="4000500"/>
          </a:xfrm>
          <a:prstGeom prst="rect">
            <a:avLst/>
          </a:prstGeom>
          <a:solidFill>
            <a:srgbClr val="EEF5F6"/>
          </a:solidFill>
          <a:ln w="12700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FTQ_slika" descr="k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949439" cy="3909059"/>
          </a:xfrm>
          <a:prstGeom prst="rect">
            <a:avLst/>
          </a:prstGeom>
        </p:spPr>
      </p:pic>
      <p:sp>
        <p:nvSpPr>
          <p:cNvPr id="9" name="FTQ_oz"/>
          <p:cNvSpPr txBox="1"/>
          <p:nvPr/>
        </p:nvSpPr>
        <p:spPr>
          <a:xfrm>
            <a:off x="457200" y="5390388"/>
            <a:ext cx="69494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17656E"/>
                </a:solidFill>
                <a:latin typeface="Calibri"/>
              </a:rPr>
              <a:t>NA ZASLONU</a:t>
            </a:r>
          </a:p>
        </p:txBody>
      </p:sp>
      <p:sp>
        <p:nvSpPr>
          <p:cNvPr id="10" name="FTQ_klik"/>
          <p:cNvSpPr txBox="1"/>
          <p:nvPr/>
        </p:nvSpPr>
        <p:spPr>
          <a:xfrm>
            <a:off x="457200" y="5637276"/>
            <a:ext cx="69494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D7C90"/>
                </a:solidFill>
                <a:latin typeface="Calibri"/>
              </a:rPr>
              <a:t>Slajd s planom (8 koraka).</a:t>
            </a:r>
          </a:p>
        </p:txBody>
      </p:sp>
      <p:sp>
        <p:nvSpPr>
          <p:cNvPr id="11" name="ANIM_tekst"/>
          <p:cNvSpPr txBox="1"/>
          <p:nvPr/>
        </p:nvSpPr>
        <p:spPr>
          <a:xfrm>
            <a:off x="7726679" y="1325880"/>
            <a:ext cx="400781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Plan je ovakav.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Kratko pravila za te elemente staze.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Zatim vaš robot i njegove funkcije.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Onda simulator CoppeliaSim i program, korak po korak: kalibracija, položaj crte, P i PD regulator, rupa, kosina, prepreka.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Na kraju kako se isti program prenosi na robota, zadatak i kviz na mobitelu.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TQ_pod1"/>
          <p:cNvSpPr txBox="1"/>
          <p:nvPr/>
        </p:nvSpPr>
        <p:spPr>
          <a:xfrm>
            <a:off x="457200" y="6355080"/>
            <a:ext cx="2286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0394A"/>
                </a:solidFill>
                <a:latin typeface="Calibri"/>
              </a:rPr>
              <a:t>FORTRONIQ</a:t>
            </a:r>
          </a:p>
        </p:txBody>
      </p:sp>
      <p:sp>
        <p:nvSpPr>
          <p:cNvPr id="3" name="FTQ_pod2"/>
          <p:cNvSpPr txBox="1"/>
          <p:nvPr/>
        </p:nvSpPr>
        <p:spPr>
          <a:xfrm>
            <a:off x="2926080" y="6355080"/>
            <a:ext cx="5486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© ForTroniQ d.o.o. — Sva prava pridržana</a:t>
            </a:r>
          </a:p>
        </p:txBody>
      </p:sp>
      <p:sp>
        <p:nvSpPr>
          <p:cNvPr id="4" name="FTQ_pod3"/>
          <p:cNvSpPr txBox="1"/>
          <p:nvPr/>
        </p:nvSpPr>
        <p:spPr>
          <a:xfrm>
            <a:off x="8074152" y="6355080"/>
            <a:ext cx="3657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Rescue Line · Tema 1: praćenje crte</a:t>
            </a:r>
          </a:p>
        </p:txBody>
      </p:sp>
      <p:sp>
        <p:nvSpPr>
          <p:cNvPr id="5" name="FTQ_nad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17656E"/>
                </a:solidFill>
                <a:latin typeface="Calibri"/>
              </a:rPr>
              <a:t>PRAVILA · KORAK 3/20 · 04:00</a:t>
            </a:r>
          </a:p>
        </p:txBody>
      </p:sp>
      <p:sp>
        <p:nvSpPr>
          <p:cNvPr id="6" name="FTQ_naslov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 spc="-100">
                <a:solidFill>
                  <a:srgbClr val="10394A"/>
                </a:solidFill>
                <a:latin typeface="Calibri"/>
              </a:rPr>
              <a:t>Pravila Rescue Line 2026. za temu 1</a:t>
            </a:r>
          </a:p>
        </p:txBody>
      </p:sp>
      <p:sp>
        <p:nvSpPr>
          <p:cNvPr id="7" name="FTQ_ploca"/>
          <p:cNvSpPr/>
          <p:nvPr/>
        </p:nvSpPr>
        <p:spPr>
          <a:xfrm>
            <a:off x="411480" y="1280160"/>
            <a:ext cx="7040880" cy="4000500"/>
          </a:xfrm>
          <a:prstGeom prst="rect">
            <a:avLst/>
          </a:prstGeom>
          <a:solidFill>
            <a:srgbClr val="EEF5F6"/>
          </a:solidFill>
          <a:ln w="12700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FTQ_slika" descr="k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949439" cy="3909059"/>
          </a:xfrm>
          <a:prstGeom prst="rect">
            <a:avLst/>
          </a:prstGeom>
        </p:spPr>
      </p:pic>
      <p:sp>
        <p:nvSpPr>
          <p:cNvPr id="9" name="FTQ_oz"/>
          <p:cNvSpPr txBox="1"/>
          <p:nvPr/>
        </p:nvSpPr>
        <p:spPr>
          <a:xfrm>
            <a:off x="457200" y="5390388"/>
            <a:ext cx="69494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17656E"/>
                </a:solidFill>
                <a:latin typeface="Calibri"/>
              </a:rPr>
              <a:t>NA ZASLONU</a:t>
            </a:r>
          </a:p>
        </p:txBody>
      </p:sp>
      <p:sp>
        <p:nvSpPr>
          <p:cNvPr id="10" name="FTQ_klik"/>
          <p:cNvSpPr txBox="1"/>
          <p:nvPr/>
        </p:nvSpPr>
        <p:spPr>
          <a:xfrm>
            <a:off x="457200" y="5637276"/>
            <a:ext cx="69494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D7C90"/>
                </a:solidFill>
                <a:latin typeface="Calibri"/>
              </a:rPr>
              <a:t>Slajd: pločica 30 × 30 cm, crta 1–2 cm, rupa ≤ 20 cm, prepreka ≥ 15 cm, kosina ≤ 25°, izbočina ≤ 1 cm.</a:t>
            </a:r>
          </a:p>
        </p:txBody>
      </p:sp>
      <p:sp>
        <p:nvSpPr>
          <p:cNvPr id="11" name="ANIM_tekst"/>
          <p:cNvSpPr txBox="1"/>
          <p:nvPr/>
        </p:nvSpPr>
        <p:spPr>
          <a:xfrm>
            <a:off x="7726679" y="1325880"/>
            <a:ext cx="400781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Pravila za 2026. godinu: staza je od pločica 30 puta 30 centimetara, crta je crna, široka jedan do dva centimetra.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Rupa u crti je najviše 20 centimetara i dolazi samo na ravnom dijelu, uz barem 5 centimetara crte prije nje.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Prepreka je visoka najmanje 15 centimetara.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Kosina ima najviše 25 stupnjeva, izbočina je visoka najviše jedan centimetar.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Upravo te brojeve smo ugradili u simulator.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TQ_pod1"/>
          <p:cNvSpPr txBox="1"/>
          <p:nvPr/>
        </p:nvSpPr>
        <p:spPr>
          <a:xfrm>
            <a:off x="457200" y="6355080"/>
            <a:ext cx="2286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0394A"/>
                </a:solidFill>
                <a:latin typeface="Calibri"/>
              </a:rPr>
              <a:t>FORTRONIQ</a:t>
            </a:r>
          </a:p>
        </p:txBody>
      </p:sp>
      <p:sp>
        <p:nvSpPr>
          <p:cNvPr id="3" name="FTQ_pod2"/>
          <p:cNvSpPr txBox="1"/>
          <p:nvPr/>
        </p:nvSpPr>
        <p:spPr>
          <a:xfrm>
            <a:off x="2926080" y="6355080"/>
            <a:ext cx="5486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© ForTroniQ d.o.o. — Sva prava pridržana</a:t>
            </a:r>
          </a:p>
        </p:txBody>
      </p:sp>
      <p:sp>
        <p:nvSpPr>
          <p:cNvPr id="4" name="FTQ_pod3"/>
          <p:cNvSpPr txBox="1"/>
          <p:nvPr/>
        </p:nvSpPr>
        <p:spPr>
          <a:xfrm>
            <a:off x="8074152" y="6355080"/>
            <a:ext cx="3657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Rescue Line · Tema 1: praćenje crte</a:t>
            </a:r>
          </a:p>
        </p:txBody>
      </p:sp>
      <p:sp>
        <p:nvSpPr>
          <p:cNvPr id="5" name="FTQ_nad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17656E"/>
                </a:solidFill>
                <a:latin typeface="Calibri"/>
              </a:rPr>
              <a:t>ROBOT · KORAK 4/20 · 06:00</a:t>
            </a:r>
          </a:p>
        </p:txBody>
      </p:sp>
      <p:sp>
        <p:nvSpPr>
          <p:cNvPr id="6" name="FTQ_naslov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 spc="-100">
                <a:solidFill>
                  <a:srgbClr val="10394A"/>
                </a:solidFill>
                <a:latin typeface="Calibri"/>
              </a:rPr>
              <a:t>Vaš robot: Microline Line robot</a:t>
            </a:r>
          </a:p>
        </p:txBody>
      </p:sp>
      <p:sp>
        <p:nvSpPr>
          <p:cNvPr id="7" name="FTQ_ploca"/>
          <p:cNvSpPr/>
          <p:nvPr/>
        </p:nvSpPr>
        <p:spPr>
          <a:xfrm>
            <a:off x="411480" y="1280160"/>
            <a:ext cx="7040880" cy="4000500"/>
          </a:xfrm>
          <a:prstGeom prst="rect">
            <a:avLst/>
          </a:prstGeom>
          <a:solidFill>
            <a:srgbClr val="EEF5F6"/>
          </a:solidFill>
          <a:ln w="12700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FTQ_slika" descr="k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949439" cy="3909059"/>
          </a:xfrm>
          <a:prstGeom prst="rect">
            <a:avLst/>
          </a:prstGeom>
        </p:spPr>
      </p:pic>
      <p:sp>
        <p:nvSpPr>
          <p:cNvPr id="9" name="FTQ_oz"/>
          <p:cNvSpPr txBox="1"/>
          <p:nvPr/>
        </p:nvSpPr>
        <p:spPr>
          <a:xfrm>
            <a:off x="457200" y="5390388"/>
            <a:ext cx="69494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17656E"/>
                </a:solidFill>
                <a:latin typeface="Calibri"/>
              </a:rPr>
              <a:t>NA ZASLONU</a:t>
            </a:r>
          </a:p>
        </p:txBody>
      </p:sp>
      <p:sp>
        <p:nvSpPr>
          <p:cNvPr id="10" name="FTQ_klik"/>
          <p:cNvSpPr txBox="1"/>
          <p:nvPr/>
        </p:nvSpPr>
        <p:spPr>
          <a:xfrm>
            <a:off x="457200" y="5637276"/>
            <a:ext cx="69494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D7C90"/>
                </a:solidFill>
                <a:latin typeface="Calibri"/>
              </a:rPr>
              <a:t>Slajd sa slikom robota i popisom: ESP32 s IMU-om, letva 9 senzora, 2 senzora boje, lidari, 4 motora, kotači 70 mm.</a:t>
            </a:r>
          </a:p>
        </p:txBody>
      </p:sp>
      <p:sp>
        <p:nvSpPr>
          <p:cNvPr id="11" name="ANIM_tekst"/>
          <p:cNvSpPr txBox="1"/>
          <p:nvPr/>
        </p:nvSpPr>
        <p:spPr>
          <a:xfrm>
            <a:off x="7726679" y="1325880"/>
            <a:ext cx="400781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Vaš robot je Microline robot za Rescue Line.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Upravljač je ESP32 s ugrađenim IMU-om, koji daje nagib i smjer.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Sprijeda dolje je letva s devet refleksijskih senzora za crtu, u sredini dva senzora boje, a sprijeda lidari koji mjere udaljenost u milimetrima.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Pogon je na sva četiri kotača promjera 70 milimetara.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Programira se u Arduinu, u C++, kroz knjižnicu mrm-robot.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TQ_pod1"/>
          <p:cNvSpPr txBox="1"/>
          <p:nvPr/>
        </p:nvSpPr>
        <p:spPr>
          <a:xfrm>
            <a:off x="457200" y="6355080"/>
            <a:ext cx="2286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0394A"/>
                </a:solidFill>
                <a:latin typeface="Calibri"/>
              </a:rPr>
              <a:t>FORTRONIQ</a:t>
            </a:r>
          </a:p>
        </p:txBody>
      </p:sp>
      <p:sp>
        <p:nvSpPr>
          <p:cNvPr id="3" name="FTQ_pod2"/>
          <p:cNvSpPr txBox="1"/>
          <p:nvPr/>
        </p:nvSpPr>
        <p:spPr>
          <a:xfrm>
            <a:off x="2926080" y="6355080"/>
            <a:ext cx="5486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© ForTroniQ d.o.o. — Sva prava pridržana</a:t>
            </a:r>
          </a:p>
        </p:txBody>
      </p:sp>
      <p:sp>
        <p:nvSpPr>
          <p:cNvPr id="4" name="FTQ_pod3"/>
          <p:cNvSpPr txBox="1"/>
          <p:nvPr/>
        </p:nvSpPr>
        <p:spPr>
          <a:xfrm>
            <a:off x="8074152" y="6355080"/>
            <a:ext cx="3657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Rescue Line · Tema 1: praćenje crte</a:t>
            </a:r>
          </a:p>
        </p:txBody>
      </p:sp>
      <p:sp>
        <p:nvSpPr>
          <p:cNvPr id="5" name="FTQ_nad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17656E"/>
                </a:solidFill>
                <a:latin typeface="Calibri"/>
              </a:rPr>
              <a:t>ROBOT · KORAK 5/20 · 09:00</a:t>
            </a:r>
          </a:p>
        </p:txBody>
      </p:sp>
      <p:sp>
        <p:nvSpPr>
          <p:cNvPr id="6" name="FTQ_naslov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 spc="-100">
                <a:solidFill>
                  <a:srgbClr val="10394A"/>
                </a:solidFill>
                <a:latin typeface="Calibri"/>
              </a:rPr>
              <a:t>Funkcije robota koje koristimo</a:t>
            </a:r>
          </a:p>
        </p:txBody>
      </p:sp>
      <p:sp>
        <p:nvSpPr>
          <p:cNvPr id="7" name="FTQ_ploca"/>
          <p:cNvSpPr/>
          <p:nvPr/>
        </p:nvSpPr>
        <p:spPr>
          <a:xfrm>
            <a:off x="411480" y="1280160"/>
            <a:ext cx="7040880" cy="4000500"/>
          </a:xfrm>
          <a:prstGeom prst="rect">
            <a:avLst/>
          </a:prstGeom>
          <a:solidFill>
            <a:srgbClr val="EEF5F6"/>
          </a:solidFill>
          <a:ln w="12700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FTQ_slika" descr="k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949439" cy="3909059"/>
          </a:xfrm>
          <a:prstGeom prst="rect">
            <a:avLst/>
          </a:prstGeom>
        </p:spPr>
      </p:pic>
      <p:sp>
        <p:nvSpPr>
          <p:cNvPr id="9" name="FTQ_oz"/>
          <p:cNvSpPr txBox="1"/>
          <p:nvPr/>
        </p:nvSpPr>
        <p:spPr>
          <a:xfrm>
            <a:off x="457200" y="5390388"/>
            <a:ext cx="69494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17656E"/>
                </a:solidFill>
                <a:latin typeface="Calibri"/>
              </a:rPr>
              <a:t>NA ZASLONU</a:t>
            </a:r>
          </a:p>
        </p:txBody>
      </p:sp>
      <p:sp>
        <p:nvSpPr>
          <p:cNvPr id="10" name="FTQ_klik"/>
          <p:cNvSpPr txBox="1"/>
          <p:nvPr/>
        </p:nvSpPr>
        <p:spPr>
          <a:xfrm>
            <a:off x="457200" y="5637276"/>
            <a:ext cx="69494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D7C90"/>
                </a:solidFill>
                <a:latin typeface="Calibri"/>
              </a:rPr>
              <a:t>Slajd: go, line, lineAny, lineCenter, front, pitch, heading, millis.</a:t>
            </a:r>
          </a:p>
        </p:txBody>
      </p:sp>
      <p:sp>
        <p:nvSpPr>
          <p:cNvPr id="11" name="ANIM_tekst"/>
          <p:cNvSpPr txBox="1"/>
          <p:nvPr/>
        </p:nvSpPr>
        <p:spPr>
          <a:xfrm>
            <a:off x="7726679" y="1325880"/>
            <a:ext cx="400781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25"/>
              </a:spcAft>
            </a:pPr>
            <a:r>
              <a:rPr sz="1500" b="0" i="0">
                <a:solidFill>
                  <a:srgbClr val="10394A"/>
                </a:solidFill>
                <a:latin typeface="Calibri"/>
              </a:rPr>
              <a:t>Iz knjižnice koristimo osam funkcija. go(lijevo, desno) zadaje brzine motora od minus 127 do 127. line(i) kaže vidi li senzor i crnu crtu — pazite, senzor nula je desni rub letve. lineAny kaže vidi li ijedan senzor crtu. lineCenter daje položaj crte od minus 50 do 50, otprilike u milimetrima, a negativno znači da je crta desno. front i leftFront daju udaljenost s lidara, pitch nagib, heading smjer kao kompas, a millis vrijeme u milisekundama.</a:t>
            </a:r>
          </a:p>
          <a:p>
            <a:pPr>
              <a:lnSpc>
                <a:spcPct val="112000"/>
              </a:lnSpc>
              <a:spcAft>
                <a:spcPts val="525"/>
              </a:spcAft>
            </a:pPr>
            <a:r>
              <a:rPr sz="1500" b="0" i="0">
                <a:solidFill>
                  <a:srgbClr val="10394A"/>
                </a:solidFill>
                <a:latin typeface="Calibri"/>
              </a:rPr>
              <a:t>U simulatoru te funkcije imaju ista imena, iste jedinice i iste predznake.</a:t>
            </a:r>
          </a:p>
          <a:p>
            <a:pPr>
              <a:lnSpc>
                <a:spcPct val="112000"/>
              </a:lnSpc>
              <a:spcAft>
                <a:spcPts val="525"/>
              </a:spcAft>
            </a:pPr>
            <a:r>
              <a:rPr sz="1500" b="0" i="0">
                <a:solidFill>
                  <a:srgbClr val="10394A"/>
                </a:solidFill>
                <a:latin typeface="Calibri"/>
              </a:rPr>
              <a:t>Zato se program prenosi gotovo red po red.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TQ_pod1"/>
          <p:cNvSpPr txBox="1"/>
          <p:nvPr/>
        </p:nvSpPr>
        <p:spPr>
          <a:xfrm>
            <a:off x="457200" y="6355080"/>
            <a:ext cx="2286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0394A"/>
                </a:solidFill>
                <a:latin typeface="Calibri"/>
              </a:rPr>
              <a:t>FORTRONIQ</a:t>
            </a:r>
          </a:p>
        </p:txBody>
      </p:sp>
      <p:sp>
        <p:nvSpPr>
          <p:cNvPr id="3" name="FTQ_pod2"/>
          <p:cNvSpPr txBox="1"/>
          <p:nvPr/>
        </p:nvSpPr>
        <p:spPr>
          <a:xfrm>
            <a:off x="2926080" y="6355080"/>
            <a:ext cx="5486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© ForTroniQ d.o.o. — Sva prava pridržana</a:t>
            </a:r>
          </a:p>
        </p:txBody>
      </p:sp>
      <p:sp>
        <p:nvSpPr>
          <p:cNvPr id="4" name="FTQ_pod3"/>
          <p:cNvSpPr txBox="1"/>
          <p:nvPr/>
        </p:nvSpPr>
        <p:spPr>
          <a:xfrm>
            <a:off x="8074152" y="6355080"/>
            <a:ext cx="3657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Rescue Line · Tema 1: praćenje crte</a:t>
            </a:r>
          </a:p>
        </p:txBody>
      </p:sp>
      <p:sp>
        <p:nvSpPr>
          <p:cNvPr id="5" name="FTQ_nad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17656E"/>
                </a:solidFill>
                <a:latin typeface="Calibri"/>
              </a:rPr>
              <a:t>SIMULATOR · KORAK 6/20 · 11:00</a:t>
            </a:r>
          </a:p>
        </p:txBody>
      </p:sp>
      <p:sp>
        <p:nvSpPr>
          <p:cNvPr id="6" name="FTQ_naslov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 spc="-100">
                <a:solidFill>
                  <a:srgbClr val="10394A"/>
                </a:solidFill>
                <a:latin typeface="Calibri"/>
              </a:rPr>
              <a:t>CoppeliaSim Edu: instalacija i scena</a:t>
            </a:r>
          </a:p>
        </p:txBody>
      </p:sp>
      <p:sp>
        <p:nvSpPr>
          <p:cNvPr id="7" name="FTQ_ploca"/>
          <p:cNvSpPr/>
          <p:nvPr/>
        </p:nvSpPr>
        <p:spPr>
          <a:xfrm>
            <a:off x="411480" y="1280160"/>
            <a:ext cx="7040880" cy="4000500"/>
          </a:xfrm>
          <a:prstGeom prst="rect">
            <a:avLst/>
          </a:prstGeom>
          <a:solidFill>
            <a:srgbClr val="EEF5F6"/>
          </a:solidFill>
          <a:ln w="12700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FTQ_slika" descr="k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949439" cy="3909059"/>
          </a:xfrm>
          <a:prstGeom prst="rect">
            <a:avLst/>
          </a:prstGeom>
        </p:spPr>
      </p:pic>
      <p:sp>
        <p:nvSpPr>
          <p:cNvPr id="9" name="FTQ_oz"/>
          <p:cNvSpPr txBox="1"/>
          <p:nvPr/>
        </p:nvSpPr>
        <p:spPr>
          <a:xfrm>
            <a:off x="457200" y="5390388"/>
            <a:ext cx="69494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17656E"/>
                </a:solidFill>
                <a:latin typeface="Calibri"/>
              </a:rPr>
              <a:t>NA ZASLONU</a:t>
            </a:r>
          </a:p>
        </p:txBody>
      </p:sp>
      <p:sp>
        <p:nvSpPr>
          <p:cNvPr id="10" name="FTQ_klik"/>
          <p:cNvSpPr txBox="1"/>
          <p:nvPr/>
        </p:nvSpPr>
        <p:spPr>
          <a:xfrm>
            <a:off x="457200" y="5637276"/>
            <a:ext cx="69494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D7C90"/>
                </a:solidFill>
                <a:latin typeface="Calibri"/>
              </a:rPr>
              <a:t>CoppeliaSim: File → Open scene → RescueLine_v03.ttt; stablo scene, robot, staza.</a:t>
            </a:r>
          </a:p>
        </p:txBody>
      </p:sp>
      <p:sp>
        <p:nvSpPr>
          <p:cNvPr id="11" name="ANIM_tekst"/>
          <p:cNvSpPr txBox="1"/>
          <p:nvPr/>
        </p:nvSpPr>
        <p:spPr>
          <a:xfrm>
            <a:off x="7726679" y="1325880"/>
            <a:ext cx="400781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Simulator je CoppeliaSim Edu, besplatan za učenike i nastavnike.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Instalira se s coppeliarobotics.com.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Otvaramo scenu Rescue Line.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Vidite stazu od šesnaest pločica: kosinu gore i dolje, rupu, prepreku i izbočinu, te robota s četiri kotača, letvom i lidarima.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U stablu scene lijevo, pod robotom, nalazi se program.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TQ_pod1"/>
          <p:cNvSpPr txBox="1"/>
          <p:nvPr/>
        </p:nvSpPr>
        <p:spPr>
          <a:xfrm>
            <a:off x="457200" y="6355080"/>
            <a:ext cx="2286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0394A"/>
                </a:solidFill>
                <a:latin typeface="Calibri"/>
              </a:rPr>
              <a:t>FORTRONIQ</a:t>
            </a:r>
          </a:p>
        </p:txBody>
      </p:sp>
      <p:sp>
        <p:nvSpPr>
          <p:cNvPr id="3" name="FTQ_pod2"/>
          <p:cNvSpPr txBox="1"/>
          <p:nvPr/>
        </p:nvSpPr>
        <p:spPr>
          <a:xfrm>
            <a:off x="2926080" y="6355080"/>
            <a:ext cx="5486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© ForTroniQ d.o.o. — Sva prava pridržana</a:t>
            </a:r>
          </a:p>
        </p:txBody>
      </p:sp>
      <p:sp>
        <p:nvSpPr>
          <p:cNvPr id="4" name="FTQ_pod3"/>
          <p:cNvSpPr txBox="1"/>
          <p:nvPr/>
        </p:nvSpPr>
        <p:spPr>
          <a:xfrm>
            <a:off x="8074152" y="6355080"/>
            <a:ext cx="3657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Rescue Line · Tema 1: praćenje crte</a:t>
            </a:r>
          </a:p>
        </p:txBody>
      </p:sp>
      <p:sp>
        <p:nvSpPr>
          <p:cNvPr id="5" name="FTQ_nad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17656E"/>
                </a:solidFill>
                <a:latin typeface="Calibri"/>
              </a:rPr>
              <a:t>SIMULATOR · KORAK 7/20 · 14:00</a:t>
            </a:r>
          </a:p>
        </p:txBody>
      </p:sp>
      <p:sp>
        <p:nvSpPr>
          <p:cNvPr id="6" name="FTQ_naslov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 spc="-100">
                <a:solidFill>
                  <a:srgbClr val="10394A"/>
                </a:solidFill>
                <a:latin typeface="Calibri"/>
              </a:rPr>
              <a:t>Prva vožnja</a:t>
            </a:r>
          </a:p>
        </p:txBody>
      </p:sp>
      <p:sp>
        <p:nvSpPr>
          <p:cNvPr id="7" name="FTQ_ploca"/>
          <p:cNvSpPr/>
          <p:nvPr/>
        </p:nvSpPr>
        <p:spPr>
          <a:xfrm>
            <a:off x="411480" y="1280160"/>
            <a:ext cx="7040880" cy="4000500"/>
          </a:xfrm>
          <a:prstGeom prst="rect">
            <a:avLst/>
          </a:prstGeom>
          <a:solidFill>
            <a:srgbClr val="EEF5F6"/>
          </a:solidFill>
          <a:ln w="12700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FTQ_slika" descr="k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949439" cy="3909059"/>
          </a:xfrm>
          <a:prstGeom prst="rect">
            <a:avLst/>
          </a:prstGeom>
        </p:spPr>
      </p:pic>
      <p:sp>
        <p:nvSpPr>
          <p:cNvPr id="9" name="FTQ_oz"/>
          <p:cNvSpPr txBox="1"/>
          <p:nvPr/>
        </p:nvSpPr>
        <p:spPr>
          <a:xfrm>
            <a:off x="457200" y="5390388"/>
            <a:ext cx="69494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17656E"/>
                </a:solidFill>
                <a:latin typeface="Calibri"/>
              </a:rPr>
              <a:t>NA ZASLONU</a:t>
            </a:r>
          </a:p>
        </p:txBody>
      </p:sp>
      <p:sp>
        <p:nvSpPr>
          <p:cNvPr id="10" name="FTQ_klik"/>
          <p:cNvSpPr txBox="1"/>
          <p:nvPr/>
        </p:nvSpPr>
        <p:spPr>
          <a:xfrm>
            <a:off x="457200" y="5637276"/>
            <a:ext cx="69494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D7C90"/>
                </a:solidFill>
                <a:latin typeface="Calibri"/>
              </a:rPr>
              <a:t>Klik na Start; robot kalibrira pa vozi krug.</a:t>
            </a:r>
          </a:p>
        </p:txBody>
      </p:sp>
      <p:sp>
        <p:nvSpPr>
          <p:cNvPr id="11" name="ANIM_tekst"/>
          <p:cNvSpPr txBox="1"/>
          <p:nvPr/>
        </p:nvSpPr>
        <p:spPr>
          <a:xfrm>
            <a:off x="7726679" y="1325880"/>
            <a:ext cx="400781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Pokrećemo simulaciju.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Robot se najprije okrene lijevo-desno preko crte — to je kalibracija.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Zatim vozi stazu: penje se na kosinu i spušta, prolazi rupu, obilazi prepreku i prelazi izbočinu.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Dolje u prozoru ispisuje u kojem je stanju.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Krug traje oko osamnaest sekundi simulacijskog vremena.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TQ_pod1"/>
          <p:cNvSpPr txBox="1"/>
          <p:nvPr/>
        </p:nvSpPr>
        <p:spPr>
          <a:xfrm>
            <a:off x="457200" y="6355080"/>
            <a:ext cx="2286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0394A"/>
                </a:solidFill>
                <a:latin typeface="Calibri"/>
              </a:rPr>
              <a:t>FORTRONIQ</a:t>
            </a:r>
          </a:p>
        </p:txBody>
      </p:sp>
      <p:sp>
        <p:nvSpPr>
          <p:cNvPr id="3" name="FTQ_pod2"/>
          <p:cNvSpPr txBox="1"/>
          <p:nvPr/>
        </p:nvSpPr>
        <p:spPr>
          <a:xfrm>
            <a:off x="2926080" y="6355080"/>
            <a:ext cx="5486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© ForTroniQ d.o.o. — Sva prava pridržana</a:t>
            </a:r>
          </a:p>
        </p:txBody>
      </p:sp>
      <p:sp>
        <p:nvSpPr>
          <p:cNvPr id="4" name="FTQ_pod3"/>
          <p:cNvSpPr txBox="1"/>
          <p:nvPr/>
        </p:nvSpPr>
        <p:spPr>
          <a:xfrm>
            <a:off x="8074152" y="6355080"/>
            <a:ext cx="3657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Rescue Line · Tema 1: praćenje crte</a:t>
            </a:r>
          </a:p>
        </p:txBody>
      </p:sp>
      <p:sp>
        <p:nvSpPr>
          <p:cNvPr id="5" name="FTQ_nad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17656E"/>
                </a:solidFill>
                <a:latin typeface="Calibri"/>
              </a:rPr>
              <a:t>PROGRAM · KORAK 8/20 · 17:00</a:t>
            </a:r>
          </a:p>
        </p:txBody>
      </p:sp>
      <p:sp>
        <p:nvSpPr>
          <p:cNvPr id="6" name="FTQ_naslov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 spc="-100">
                <a:solidFill>
                  <a:srgbClr val="10394A"/>
                </a:solidFill>
                <a:latin typeface="Calibri"/>
              </a:rPr>
              <a:t>Program kao stroj stanja</a:t>
            </a:r>
          </a:p>
        </p:txBody>
      </p:sp>
      <p:sp>
        <p:nvSpPr>
          <p:cNvPr id="7" name="FTQ_ploca"/>
          <p:cNvSpPr/>
          <p:nvPr/>
        </p:nvSpPr>
        <p:spPr>
          <a:xfrm>
            <a:off x="411480" y="1280160"/>
            <a:ext cx="7040880" cy="4000500"/>
          </a:xfrm>
          <a:prstGeom prst="rect">
            <a:avLst/>
          </a:prstGeom>
          <a:solidFill>
            <a:srgbClr val="EEF5F6"/>
          </a:solidFill>
          <a:ln w="12700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FTQ_slika" descr="k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949439" cy="3909059"/>
          </a:xfrm>
          <a:prstGeom prst="rect">
            <a:avLst/>
          </a:prstGeom>
        </p:spPr>
      </p:pic>
      <p:sp>
        <p:nvSpPr>
          <p:cNvPr id="9" name="FTQ_oz"/>
          <p:cNvSpPr txBox="1"/>
          <p:nvPr/>
        </p:nvSpPr>
        <p:spPr>
          <a:xfrm>
            <a:off x="457200" y="5390388"/>
            <a:ext cx="69494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17656E"/>
                </a:solidFill>
                <a:latin typeface="Calibri"/>
              </a:rPr>
              <a:t>NA ZASLONU</a:t>
            </a:r>
          </a:p>
        </p:txBody>
      </p:sp>
      <p:sp>
        <p:nvSpPr>
          <p:cNvPr id="10" name="FTQ_klik"/>
          <p:cNvSpPr txBox="1"/>
          <p:nvPr/>
        </p:nvSpPr>
        <p:spPr>
          <a:xfrm>
            <a:off x="457200" y="5637276"/>
            <a:ext cx="69494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D7C90"/>
                </a:solidFill>
                <a:latin typeface="Calibri"/>
              </a:rPr>
              <a:t>Dvoklik na program; POSTAVKE i funkcija loop() sa stanjima: kalibracija, crta, rupa, traženje, prepreka.</a:t>
            </a:r>
          </a:p>
        </p:txBody>
      </p:sp>
      <p:sp>
        <p:nvSpPr>
          <p:cNvPr id="11" name="ANIM_tekst"/>
          <p:cNvSpPr txBox="1"/>
          <p:nvPr/>
        </p:nvSpPr>
        <p:spPr>
          <a:xfrm>
            <a:off x="7726679" y="1325880"/>
            <a:ext cx="400781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Otvorimo program.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Na vrhu su postavke — brojevi koje ćete mijenjati.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Ispod je funkcija loop(), ista kao RobotLine::loop() na robotu: vrti se stalno, stotinama puta u sekundi.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Robot je uvijek u jednom stanju: kalibracija, crta, rupa, traženje ili prepreka.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U svakom stanju radi jednu stvar i odlučuje kad prelazi u drugo.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Nema dugih petlji koje blokiraju robota — zato on stalno čita senzore.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TQ_pod1"/>
          <p:cNvSpPr txBox="1"/>
          <p:nvPr/>
        </p:nvSpPr>
        <p:spPr>
          <a:xfrm>
            <a:off x="457200" y="6355080"/>
            <a:ext cx="2286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0394A"/>
                </a:solidFill>
                <a:latin typeface="Calibri"/>
              </a:rPr>
              <a:t>FORTRONIQ</a:t>
            </a:r>
          </a:p>
        </p:txBody>
      </p:sp>
      <p:sp>
        <p:nvSpPr>
          <p:cNvPr id="3" name="FTQ_pod2"/>
          <p:cNvSpPr txBox="1"/>
          <p:nvPr/>
        </p:nvSpPr>
        <p:spPr>
          <a:xfrm>
            <a:off x="2926080" y="6355080"/>
            <a:ext cx="5486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© ForTroniQ d.o.o. — Sva prava pridržana</a:t>
            </a:r>
          </a:p>
        </p:txBody>
      </p:sp>
      <p:sp>
        <p:nvSpPr>
          <p:cNvPr id="4" name="FTQ_pod3"/>
          <p:cNvSpPr txBox="1"/>
          <p:nvPr/>
        </p:nvSpPr>
        <p:spPr>
          <a:xfrm>
            <a:off x="8074152" y="6355080"/>
            <a:ext cx="3657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Rescue Line · Tema 1: praćenje crte</a:t>
            </a:r>
          </a:p>
        </p:txBody>
      </p:sp>
      <p:sp>
        <p:nvSpPr>
          <p:cNvPr id="5" name="FTQ_nad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17656E"/>
                </a:solidFill>
                <a:latin typeface="Calibri"/>
              </a:rPr>
              <a:t>KALIBRACIJA · KORAK 9/20 · 22:00</a:t>
            </a:r>
          </a:p>
        </p:txBody>
      </p:sp>
      <p:sp>
        <p:nvSpPr>
          <p:cNvPr id="6" name="FTQ_naslov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 spc="-100">
                <a:solidFill>
                  <a:srgbClr val="10394A"/>
                </a:solidFill>
                <a:latin typeface="Calibri"/>
              </a:rPr>
              <a:t>Letva senzora i kalibracija</a:t>
            </a:r>
          </a:p>
        </p:txBody>
      </p:sp>
      <p:sp>
        <p:nvSpPr>
          <p:cNvPr id="7" name="FTQ_ploca"/>
          <p:cNvSpPr/>
          <p:nvPr/>
        </p:nvSpPr>
        <p:spPr>
          <a:xfrm>
            <a:off x="411480" y="1280160"/>
            <a:ext cx="7040880" cy="4000500"/>
          </a:xfrm>
          <a:prstGeom prst="rect">
            <a:avLst/>
          </a:prstGeom>
          <a:solidFill>
            <a:srgbClr val="EEF5F6"/>
          </a:solidFill>
          <a:ln w="12700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FTQ_slika" descr="k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949439" cy="3909059"/>
          </a:xfrm>
          <a:prstGeom prst="rect">
            <a:avLst/>
          </a:prstGeom>
        </p:spPr>
      </p:pic>
      <p:sp>
        <p:nvSpPr>
          <p:cNvPr id="9" name="FTQ_oz"/>
          <p:cNvSpPr txBox="1"/>
          <p:nvPr/>
        </p:nvSpPr>
        <p:spPr>
          <a:xfrm>
            <a:off x="457200" y="5390388"/>
            <a:ext cx="69494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17656E"/>
                </a:solidFill>
                <a:latin typeface="Calibri"/>
              </a:rPr>
              <a:t>NA ZASLONU</a:t>
            </a:r>
          </a:p>
        </p:txBody>
      </p:sp>
      <p:sp>
        <p:nvSpPr>
          <p:cNvPr id="10" name="FTQ_klik"/>
          <p:cNvSpPr txBox="1"/>
          <p:nvPr/>
        </p:nvSpPr>
        <p:spPr>
          <a:xfrm>
            <a:off x="457200" y="5637276"/>
            <a:ext cx="69494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D7C90"/>
                </a:solidFill>
                <a:latin typeface="Calibri"/>
              </a:rPr>
              <a:t>Slajd: očitanja 9 senzora na bijelom i crnom, min/max, prag; u simulatoru stanje kalibracija.</a:t>
            </a:r>
          </a:p>
        </p:txBody>
      </p:sp>
      <p:sp>
        <p:nvSpPr>
          <p:cNvPr id="11" name="ANIM_tekst"/>
          <p:cNvSpPr txBox="1"/>
          <p:nvPr/>
        </p:nvSpPr>
        <p:spPr>
          <a:xfrm>
            <a:off x="7726679" y="1325880"/>
            <a:ext cx="400781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25"/>
              </a:spcAft>
            </a:pPr>
            <a:r>
              <a:rPr sz="1500" b="0" i="0">
                <a:solidFill>
                  <a:srgbClr val="10394A"/>
                </a:solidFill>
                <a:latin typeface="Calibri"/>
              </a:rPr>
              <a:t>Svaki senzor na letvi malo je drukčiji: jedan na crnom daje 150, drugi 280.</a:t>
            </a:r>
          </a:p>
          <a:p>
            <a:pPr>
              <a:lnSpc>
                <a:spcPct val="112000"/>
              </a:lnSpc>
              <a:spcAft>
                <a:spcPts val="525"/>
              </a:spcAft>
            </a:pPr>
            <a:r>
              <a:rPr sz="1500" b="0" i="0">
                <a:solidFill>
                  <a:srgbClr val="10394A"/>
                </a:solidFill>
                <a:latin typeface="Calibri"/>
              </a:rPr>
              <a:t>Zato se svaki kalibrira posebno.</a:t>
            </a:r>
          </a:p>
          <a:p>
            <a:pPr>
              <a:lnSpc>
                <a:spcPct val="112000"/>
              </a:lnSpc>
              <a:spcAft>
                <a:spcPts val="525"/>
              </a:spcAft>
            </a:pPr>
            <a:r>
              <a:rPr sz="1500" b="0" i="0">
                <a:solidFill>
                  <a:srgbClr val="10394A"/>
                </a:solidFill>
                <a:latin typeface="Calibri"/>
              </a:rPr>
              <a:t>Robot prijeđe preko crne i bijele, a senzor zapamti najmanju i najveću vrijednost.</a:t>
            </a:r>
          </a:p>
          <a:p>
            <a:pPr>
              <a:lnSpc>
                <a:spcPct val="112000"/>
              </a:lnSpc>
              <a:spcAft>
                <a:spcPts val="525"/>
              </a:spcAft>
            </a:pPr>
            <a:r>
              <a:rPr sz="1500" b="0" i="0">
                <a:solidFill>
                  <a:srgbClr val="10394A"/>
                </a:solidFill>
                <a:latin typeface="Calibri"/>
              </a:rPr>
              <a:t>Prag je sredina između njih.</a:t>
            </a:r>
          </a:p>
          <a:p>
            <a:pPr>
              <a:lnSpc>
                <a:spcPct val="112000"/>
              </a:lnSpc>
              <a:spcAft>
                <a:spcPts val="525"/>
              </a:spcAft>
            </a:pPr>
            <a:r>
              <a:rPr sz="1500" b="0" i="0">
                <a:solidFill>
                  <a:srgbClr val="10394A"/>
                </a:solidFill>
                <a:latin typeface="Calibri"/>
              </a:rPr>
              <a:t>Na robotu to radi naredba cal, a pri ispisuje vrijednosti.</a:t>
            </a:r>
          </a:p>
          <a:p>
            <a:pPr>
              <a:lnSpc>
                <a:spcPct val="112000"/>
              </a:lnSpc>
              <a:spcAft>
                <a:spcPts val="525"/>
              </a:spcAft>
            </a:pPr>
            <a:r>
              <a:rPr sz="1500" b="0" i="0">
                <a:solidFill>
                  <a:srgbClr val="10394A"/>
                </a:solidFill>
                <a:latin typeface="Calibri"/>
              </a:rPr>
              <a:t>Pazite: crna podloga vraća malo svjetla, pa je crno mali broj, a bijelo velik — kao na pravom senzoru mrm-ref-can.</a:t>
            </a:r>
          </a:p>
          <a:p>
            <a:pPr>
              <a:lnSpc>
                <a:spcPct val="112000"/>
              </a:lnSpc>
              <a:spcAft>
                <a:spcPts val="525"/>
              </a:spcAft>
            </a:pPr>
            <a:r>
              <a:rPr sz="1500" b="0" i="0">
                <a:solidFill>
                  <a:srgbClr val="10394A"/>
                </a:solidFill>
                <a:latin typeface="Calibri"/>
              </a:rPr>
              <a:t>U simulatoru smo namjerno dodali šum i različitu osjetljivost senzora, da bude kao na pravom robotu.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TQ_pod1"/>
          <p:cNvSpPr txBox="1"/>
          <p:nvPr/>
        </p:nvSpPr>
        <p:spPr>
          <a:xfrm>
            <a:off x="457200" y="6355080"/>
            <a:ext cx="2286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0394A"/>
                </a:solidFill>
                <a:latin typeface="Calibri"/>
              </a:rPr>
              <a:t>FORTRONIQ</a:t>
            </a:r>
          </a:p>
        </p:txBody>
      </p:sp>
      <p:sp>
        <p:nvSpPr>
          <p:cNvPr id="3" name="FTQ_pod2"/>
          <p:cNvSpPr txBox="1"/>
          <p:nvPr/>
        </p:nvSpPr>
        <p:spPr>
          <a:xfrm>
            <a:off x="2926080" y="6355080"/>
            <a:ext cx="5486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© ForTroniQ d.o.o. — Sva prava pridržana</a:t>
            </a:r>
          </a:p>
        </p:txBody>
      </p:sp>
      <p:sp>
        <p:nvSpPr>
          <p:cNvPr id="4" name="FTQ_pod3"/>
          <p:cNvSpPr txBox="1"/>
          <p:nvPr/>
        </p:nvSpPr>
        <p:spPr>
          <a:xfrm>
            <a:off x="8074152" y="6355080"/>
            <a:ext cx="3657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Rescue Line · Tema 1: praćenje crte</a:t>
            </a:r>
          </a:p>
        </p:txBody>
      </p:sp>
      <p:sp>
        <p:nvSpPr>
          <p:cNvPr id="5" name="FTQ_nad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17656E"/>
                </a:solidFill>
                <a:latin typeface="Calibri"/>
              </a:rPr>
              <a:t>KALIBRACIJA · KORAK 9/20 · KVIZ T01</a:t>
            </a:r>
          </a:p>
        </p:txBody>
      </p:sp>
      <p:sp>
        <p:nvSpPr>
          <p:cNvPr id="6" name="FTQ_naslov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 spc="-100">
                <a:solidFill>
                  <a:srgbClr val="10394A"/>
                </a:solidFill>
                <a:latin typeface="Calibri"/>
              </a:rPr>
              <a:t>Letva senzora i kalibracija</a:t>
            </a:r>
          </a:p>
        </p:txBody>
      </p:sp>
      <p:sp>
        <p:nvSpPr>
          <p:cNvPr id="7" name="FTQ_ploca"/>
          <p:cNvSpPr/>
          <p:nvPr/>
        </p:nvSpPr>
        <p:spPr>
          <a:xfrm>
            <a:off x="1463040" y="1325880"/>
            <a:ext cx="9235440" cy="4754880"/>
          </a:xfrm>
          <a:prstGeom prst="roundRect">
            <a:avLst>
              <a:gd name="adj" fmla="val 4000"/>
            </a:avLst>
          </a:prstGeom>
          <a:solidFill>
            <a:srgbClr val="EEF5F6"/>
          </a:solidFill>
          <a:ln w="12700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FTQ_qr" descr="qr_ec77a6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4480560"/>
            <a:ext cx="1371600" cy="1371600"/>
          </a:xfrm>
          <a:prstGeom prst="rect">
            <a:avLst/>
          </a:prstGeom>
        </p:spPr>
      </p:pic>
      <p:sp>
        <p:nvSpPr>
          <p:cNvPr id="9" name="FTQ_qrt"/>
          <p:cNvSpPr txBox="1"/>
          <p:nvPr/>
        </p:nvSpPr>
        <p:spPr>
          <a:xfrm>
            <a:off x="6675120" y="530352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D7C90"/>
                </a:solidFill>
                <a:latin typeface="Calibri"/>
              </a:rPr>
              <a:t>Na mobitelu: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D7C90"/>
                </a:solidFill>
                <a:latin typeface="Calibri"/>
              </a:rPr>
              <a:t>fortroniq.hr/kviz/rescue-line-t1</a:t>
            </a:r>
          </a:p>
        </p:txBody>
      </p:sp>
      <p:sp>
        <p:nvSpPr>
          <p:cNvPr id="10" name="ANIM_kviz"/>
          <p:cNvSpPr txBox="1"/>
          <p:nvPr/>
        </p:nvSpPr>
        <p:spPr>
          <a:xfrm>
            <a:off x="1737360" y="1554480"/>
            <a:ext cx="7132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2000" b="1" i="0">
                <a:solidFill>
                  <a:srgbClr val="10394A"/>
                </a:solidFill>
                <a:latin typeface="Calibri"/>
              </a:rPr>
              <a:t>Na Microline letvi s 9 senzora, koji je senzor line(0)?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2000" b="0" i="0">
                <a:solidFill>
                  <a:srgbClr val="10394A"/>
                </a:solidFill>
                <a:latin typeface="Calibri"/>
              </a:rPr>
              <a:t>A)  lijevi rub letve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2000" b="0" i="0">
                <a:solidFill>
                  <a:srgbClr val="10394A"/>
                </a:solidFill>
                <a:latin typeface="Calibri"/>
              </a:rPr>
              <a:t>B)  srednji senzor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2000" b="0" i="0">
                <a:solidFill>
                  <a:srgbClr val="10394A"/>
                </a:solidFill>
                <a:latin typeface="Calibri"/>
              </a:rPr>
              <a:t>C)  prednji senzor boje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2000" b="0" i="0">
                <a:solidFill>
                  <a:srgbClr val="10394A"/>
                </a:solidFill>
                <a:latin typeface="Calibri"/>
              </a:rPr>
              <a:t>D)  desni rub letve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2000" b="1" i="0">
                <a:solidFill>
                  <a:srgbClr val="10394A"/>
                </a:solidFill>
                <a:latin typeface="Calibri"/>
              </a:rPr>
              <a:t>Točno: D) desni rub letve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2000" b="0" i="0">
                <a:solidFill>
                  <a:srgbClr val="5D7C90"/>
                </a:solidFill>
                <a:latin typeface="Calibri"/>
              </a:rPr>
              <a:t>Letva se montira tako da je senzor 1 (u kodu 0) skroz desno; line(8) je lijevi rub.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2000" b="0" i="0">
                <a:solidFill>
                  <a:srgbClr val="5D7C90"/>
                </a:solidFill>
                <a:latin typeface="Calibri"/>
              </a:rPr>
              <a:t>Zato line(8) skreće ulijevo: go(-90, 90).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TQ_pod1"/>
          <p:cNvSpPr txBox="1"/>
          <p:nvPr/>
        </p:nvSpPr>
        <p:spPr>
          <a:xfrm>
            <a:off x="457200" y="6355080"/>
            <a:ext cx="2286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0394A"/>
                </a:solidFill>
                <a:latin typeface="Calibri"/>
              </a:rPr>
              <a:t>FORTRONIQ</a:t>
            </a:r>
          </a:p>
        </p:txBody>
      </p:sp>
      <p:sp>
        <p:nvSpPr>
          <p:cNvPr id="3" name="FTQ_pod2"/>
          <p:cNvSpPr txBox="1"/>
          <p:nvPr/>
        </p:nvSpPr>
        <p:spPr>
          <a:xfrm>
            <a:off x="2926080" y="6355080"/>
            <a:ext cx="5486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© ForTroniQ d.o.o. — Sva prava pridržana</a:t>
            </a:r>
          </a:p>
        </p:txBody>
      </p:sp>
      <p:sp>
        <p:nvSpPr>
          <p:cNvPr id="4" name="FTQ_pod3"/>
          <p:cNvSpPr txBox="1"/>
          <p:nvPr/>
        </p:nvSpPr>
        <p:spPr>
          <a:xfrm>
            <a:off x="8074152" y="6355080"/>
            <a:ext cx="3657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Rescue Line · Tema 1: praćenje crte</a:t>
            </a:r>
          </a:p>
        </p:txBody>
      </p:sp>
      <p:sp>
        <p:nvSpPr>
          <p:cNvPr id="5" name="FTQ_nad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17656E"/>
                </a:solidFill>
                <a:latin typeface="Calibri"/>
              </a:rPr>
              <a:t>KALIBRACIJA · KORAK 9/20 · KVIZ T04</a:t>
            </a:r>
          </a:p>
        </p:txBody>
      </p:sp>
      <p:sp>
        <p:nvSpPr>
          <p:cNvPr id="6" name="FTQ_naslov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 spc="-100">
                <a:solidFill>
                  <a:srgbClr val="10394A"/>
                </a:solidFill>
                <a:latin typeface="Calibri"/>
              </a:rPr>
              <a:t>Letva senzora i kalibracija</a:t>
            </a:r>
          </a:p>
        </p:txBody>
      </p:sp>
      <p:sp>
        <p:nvSpPr>
          <p:cNvPr id="7" name="FTQ_ploca"/>
          <p:cNvSpPr/>
          <p:nvPr/>
        </p:nvSpPr>
        <p:spPr>
          <a:xfrm>
            <a:off x="1463040" y="1325880"/>
            <a:ext cx="9235440" cy="4754880"/>
          </a:xfrm>
          <a:prstGeom prst="roundRect">
            <a:avLst>
              <a:gd name="adj" fmla="val 4000"/>
            </a:avLst>
          </a:prstGeom>
          <a:solidFill>
            <a:srgbClr val="EEF5F6"/>
          </a:solidFill>
          <a:ln w="12700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FTQ_qr" descr="qr_9c1d52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4480560"/>
            <a:ext cx="1371600" cy="1371600"/>
          </a:xfrm>
          <a:prstGeom prst="rect">
            <a:avLst/>
          </a:prstGeom>
        </p:spPr>
      </p:pic>
      <p:sp>
        <p:nvSpPr>
          <p:cNvPr id="9" name="FTQ_qrt"/>
          <p:cNvSpPr txBox="1"/>
          <p:nvPr/>
        </p:nvSpPr>
        <p:spPr>
          <a:xfrm>
            <a:off x="6675120" y="530352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D7C90"/>
                </a:solidFill>
                <a:latin typeface="Calibri"/>
              </a:rPr>
              <a:t>Na mobitelu: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D7C90"/>
                </a:solidFill>
                <a:latin typeface="Calibri"/>
              </a:rPr>
              <a:t>fortroniq.hr/kviz/rescue-line-t1</a:t>
            </a:r>
          </a:p>
        </p:txBody>
      </p:sp>
      <p:sp>
        <p:nvSpPr>
          <p:cNvPr id="10" name="ANIM_kviz"/>
          <p:cNvSpPr txBox="1"/>
          <p:nvPr/>
        </p:nvSpPr>
        <p:spPr>
          <a:xfrm>
            <a:off x="1737360" y="1554480"/>
            <a:ext cx="7132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2000" b="1" i="0">
                <a:solidFill>
                  <a:srgbClr val="10394A"/>
                </a:solidFill>
                <a:latin typeface="Calibri"/>
              </a:rPr>
              <a:t>Nakon kalibracije senzor na crnom daje 180, a na bijelom 860. Koliki je prag (sredina)?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2000" b="0" i="0">
                <a:solidFill>
                  <a:srgbClr val="5D7C90"/>
                </a:solidFill>
                <a:latin typeface="Calibri"/>
              </a:rPr>
              <a:t>Upišite broj (decimalni zarez).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2000" b="1" i="0">
                <a:solidFill>
                  <a:srgbClr val="10394A"/>
                </a:solidFill>
                <a:latin typeface="Calibri"/>
              </a:rPr>
              <a:t>Točno: 520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2000" b="0" i="0">
                <a:solidFill>
                  <a:srgbClr val="5D7C90"/>
                </a:solidFill>
                <a:latin typeface="Calibri"/>
              </a:rPr>
              <a:t>Prag = (180 + 860) / 2 = 520.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2000" b="0" i="0">
                <a:solidFill>
                  <a:srgbClr val="5D7C90"/>
                </a:solidFill>
                <a:latin typeface="Calibri"/>
              </a:rPr>
              <a:t>Ispod 520 senzor vidi crno (crna podloga vraća malo svjetla).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2000" b="0" i="0">
                <a:solidFill>
                  <a:srgbClr val="5D7C90"/>
                </a:solidFill>
                <a:latin typeface="Calibri"/>
              </a:rPr>
              <a:t>Svaki senzor ima svoj prag — zato se kalibrira.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TQ_pod1"/>
          <p:cNvSpPr txBox="1"/>
          <p:nvPr/>
        </p:nvSpPr>
        <p:spPr>
          <a:xfrm>
            <a:off x="457200" y="6355080"/>
            <a:ext cx="2286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0394A"/>
                </a:solidFill>
                <a:latin typeface="Calibri"/>
              </a:rPr>
              <a:t>FORTRONIQ</a:t>
            </a:r>
          </a:p>
        </p:txBody>
      </p:sp>
      <p:sp>
        <p:nvSpPr>
          <p:cNvPr id="3" name="FTQ_pod2"/>
          <p:cNvSpPr txBox="1"/>
          <p:nvPr/>
        </p:nvSpPr>
        <p:spPr>
          <a:xfrm>
            <a:off x="2926080" y="6355080"/>
            <a:ext cx="5486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© ForTroniQ d.o.o. — Sva prava pridržana</a:t>
            </a:r>
          </a:p>
        </p:txBody>
      </p:sp>
      <p:sp>
        <p:nvSpPr>
          <p:cNvPr id="4" name="FTQ_pod3"/>
          <p:cNvSpPr txBox="1"/>
          <p:nvPr/>
        </p:nvSpPr>
        <p:spPr>
          <a:xfrm>
            <a:off x="8074152" y="6355080"/>
            <a:ext cx="3657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Rescue Line · Tema 1: praćenje crte</a:t>
            </a:r>
          </a:p>
        </p:txBody>
      </p:sp>
      <p:sp>
        <p:nvSpPr>
          <p:cNvPr id="5" name="FTQ_nad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17656E"/>
                </a:solidFill>
                <a:latin typeface="Calibri"/>
              </a:rPr>
              <a:t>POLOŽAJ CRTE · KORAK 10/20 · 29:00</a:t>
            </a:r>
          </a:p>
        </p:txBody>
      </p:sp>
      <p:sp>
        <p:nvSpPr>
          <p:cNvPr id="6" name="FTQ_naslov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 spc="-100">
                <a:solidFill>
                  <a:srgbClr val="10394A"/>
                </a:solidFill>
                <a:latin typeface="Calibri"/>
              </a:rPr>
              <a:t>lineCenter: gdje je crta</a:t>
            </a:r>
          </a:p>
        </p:txBody>
      </p:sp>
      <p:sp>
        <p:nvSpPr>
          <p:cNvPr id="7" name="FTQ_ploca"/>
          <p:cNvSpPr/>
          <p:nvPr/>
        </p:nvSpPr>
        <p:spPr>
          <a:xfrm>
            <a:off x="411480" y="1280160"/>
            <a:ext cx="7040880" cy="4000500"/>
          </a:xfrm>
          <a:prstGeom prst="rect">
            <a:avLst/>
          </a:prstGeom>
          <a:solidFill>
            <a:srgbClr val="EEF5F6"/>
          </a:solidFill>
          <a:ln w="12700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FTQ_slika" descr="k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949439" cy="3909059"/>
          </a:xfrm>
          <a:prstGeom prst="rect">
            <a:avLst/>
          </a:prstGeom>
        </p:spPr>
      </p:pic>
      <p:sp>
        <p:nvSpPr>
          <p:cNvPr id="9" name="FTQ_oz"/>
          <p:cNvSpPr txBox="1"/>
          <p:nvPr/>
        </p:nvSpPr>
        <p:spPr>
          <a:xfrm>
            <a:off x="457200" y="5390388"/>
            <a:ext cx="69494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17656E"/>
                </a:solidFill>
                <a:latin typeface="Calibri"/>
              </a:rPr>
              <a:t>NA ZASLONU</a:t>
            </a:r>
          </a:p>
        </p:txBody>
      </p:sp>
      <p:sp>
        <p:nvSpPr>
          <p:cNvPr id="10" name="FTQ_klik"/>
          <p:cNvSpPr txBox="1"/>
          <p:nvPr/>
        </p:nvSpPr>
        <p:spPr>
          <a:xfrm>
            <a:off x="457200" y="5637276"/>
            <a:ext cx="69494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D7C90"/>
                </a:solidFill>
                <a:latin typeface="Calibri"/>
              </a:rPr>
              <a:t>Slajd: letva, senzori 0–8 s desna na lijevo, center 1000–9000, lineCenter −50…50.</a:t>
            </a:r>
          </a:p>
        </p:txBody>
      </p:sp>
      <p:sp>
        <p:nvSpPr>
          <p:cNvPr id="11" name="ANIM_tekst"/>
          <p:cNvSpPr txBox="1"/>
          <p:nvPr/>
        </p:nvSpPr>
        <p:spPr>
          <a:xfrm>
            <a:off x="7726679" y="1325880"/>
            <a:ext cx="400781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Kad više senzora vidi crtu, letva računa težište — gdje je crta između senzora.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Daje broj od 1000 do 9000, a lineCenter ga pretvara u minus 50 do 50.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Nula znači crta točno ispod sredine.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Minus 20 znači da je crta oko dva centimetra desno.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To je broj s kojim radi regulator.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TQ_pod1"/>
          <p:cNvSpPr txBox="1"/>
          <p:nvPr/>
        </p:nvSpPr>
        <p:spPr>
          <a:xfrm>
            <a:off x="457200" y="6355080"/>
            <a:ext cx="2286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0394A"/>
                </a:solidFill>
                <a:latin typeface="Calibri"/>
              </a:rPr>
              <a:t>FORTRONIQ</a:t>
            </a:r>
          </a:p>
        </p:txBody>
      </p:sp>
      <p:sp>
        <p:nvSpPr>
          <p:cNvPr id="3" name="FTQ_pod2"/>
          <p:cNvSpPr txBox="1"/>
          <p:nvPr/>
        </p:nvSpPr>
        <p:spPr>
          <a:xfrm>
            <a:off x="2926080" y="6355080"/>
            <a:ext cx="5486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© ForTroniQ d.o.o. — Sva prava pridržana</a:t>
            </a:r>
          </a:p>
        </p:txBody>
      </p:sp>
      <p:sp>
        <p:nvSpPr>
          <p:cNvPr id="4" name="FTQ_pod3"/>
          <p:cNvSpPr txBox="1"/>
          <p:nvPr/>
        </p:nvSpPr>
        <p:spPr>
          <a:xfrm>
            <a:off x="8074152" y="6355080"/>
            <a:ext cx="3657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Rescue Line · Tema 1: praćenje crte</a:t>
            </a:r>
          </a:p>
        </p:txBody>
      </p:sp>
      <p:sp>
        <p:nvSpPr>
          <p:cNvPr id="5" name="FTQ_nad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17656E"/>
                </a:solidFill>
                <a:latin typeface="Calibri"/>
              </a:rPr>
              <a:t>POLOŽAJ CRTE · KORAK 10/20 · KVIZ T02</a:t>
            </a:r>
          </a:p>
        </p:txBody>
      </p:sp>
      <p:sp>
        <p:nvSpPr>
          <p:cNvPr id="6" name="FTQ_naslov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 spc="-100">
                <a:solidFill>
                  <a:srgbClr val="10394A"/>
                </a:solidFill>
                <a:latin typeface="Calibri"/>
              </a:rPr>
              <a:t>lineCenter: gdje je crta</a:t>
            </a:r>
          </a:p>
        </p:txBody>
      </p:sp>
      <p:sp>
        <p:nvSpPr>
          <p:cNvPr id="7" name="FTQ_ploca"/>
          <p:cNvSpPr/>
          <p:nvPr/>
        </p:nvSpPr>
        <p:spPr>
          <a:xfrm>
            <a:off x="1463040" y="1325880"/>
            <a:ext cx="9235440" cy="4754880"/>
          </a:xfrm>
          <a:prstGeom prst="roundRect">
            <a:avLst>
              <a:gd name="adj" fmla="val 4000"/>
            </a:avLst>
          </a:prstGeom>
          <a:solidFill>
            <a:srgbClr val="EEF5F6"/>
          </a:solidFill>
          <a:ln w="12700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FTQ_qr" descr="qr_757ef7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4480560"/>
            <a:ext cx="1371600" cy="1371600"/>
          </a:xfrm>
          <a:prstGeom prst="rect">
            <a:avLst/>
          </a:prstGeom>
        </p:spPr>
      </p:pic>
      <p:sp>
        <p:nvSpPr>
          <p:cNvPr id="9" name="FTQ_qrt"/>
          <p:cNvSpPr txBox="1"/>
          <p:nvPr/>
        </p:nvSpPr>
        <p:spPr>
          <a:xfrm>
            <a:off x="6675120" y="530352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D7C90"/>
                </a:solidFill>
                <a:latin typeface="Calibri"/>
              </a:rPr>
              <a:t>Na mobitelu: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D7C90"/>
                </a:solidFill>
                <a:latin typeface="Calibri"/>
              </a:rPr>
              <a:t>fortroniq.hr/kviz/rescue-line-t1</a:t>
            </a:r>
          </a:p>
        </p:txBody>
      </p:sp>
      <p:sp>
        <p:nvSpPr>
          <p:cNvPr id="10" name="ANIM_kviz"/>
          <p:cNvSpPr txBox="1"/>
          <p:nvPr/>
        </p:nvSpPr>
        <p:spPr>
          <a:xfrm>
            <a:off x="1737360" y="1554480"/>
            <a:ext cx="7132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2000" b="1" i="0">
                <a:solidFill>
                  <a:srgbClr val="10394A"/>
                </a:solidFill>
                <a:latin typeface="Calibri"/>
              </a:rPr>
              <a:t>lineCenter() vraća −30. Gdje je crta?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2000" b="0" i="0">
                <a:solidFill>
                  <a:srgbClr val="10394A"/>
                </a:solidFill>
                <a:latin typeface="Calibri"/>
              </a:rPr>
              <a:t>A)  lijevo od sredine letve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2000" b="0" i="0">
                <a:solidFill>
                  <a:srgbClr val="10394A"/>
                </a:solidFill>
                <a:latin typeface="Calibri"/>
              </a:rPr>
              <a:t>B)  desno od sredine letve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2000" b="0" i="0">
                <a:solidFill>
                  <a:srgbClr val="10394A"/>
                </a:solidFill>
                <a:latin typeface="Calibri"/>
              </a:rPr>
              <a:t>C)  točno ispod sredine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2000" b="0" i="0">
                <a:solidFill>
                  <a:srgbClr val="10394A"/>
                </a:solidFill>
                <a:latin typeface="Calibri"/>
              </a:rPr>
              <a:t>D)  crte nema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2000" b="1" i="0">
                <a:solidFill>
                  <a:srgbClr val="10394A"/>
                </a:solidFill>
                <a:latin typeface="Calibri"/>
              </a:rPr>
              <a:t>Točno: B) desno od sredine letve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2000" b="0" i="0">
                <a:solidFill>
                  <a:srgbClr val="5D7C90"/>
                </a:solidFill>
                <a:latin typeface="Calibri"/>
              </a:rPr>
              <a:t>lineCenter() je (center − 5000) / 80, od −50 do 50, otprilike u mm.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2000" b="0" i="0">
                <a:solidFill>
                  <a:srgbClr val="5D7C90"/>
                </a:solidFill>
                <a:latin typeface="Calibri"/>
              </a:rPr>
              <a:t>Negativno znači da je crta desno.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TQ_pod1"/>
          <p:cNvSpPr txBox="1"/>
          <p:nvPr/>
        </p:nvSpPr>
        <p:spPr>
          <a:xfrm>
            <a:off x="457200" y="6355080"/>
            <a:ext cx="2286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0394A"/>
                </a:solidFill>
                <a:latin typeface="Calibri"/>
              </a:rPr>
              <a:t>FORTRONIQ</a:t>
            </a:r>
          </a:p>
        </p:txBody>
      </p:sp>
      <p:sp>
        <p:nvSpPr>
          <p:cNvPr id="3" name="FTQ_pod2"/>
          <p:cNvSpPr txBox="1"/>
          <p:nvPr/>
        </p:nvSpPr>
        <p:spPr>
          <a:xfrm>
            <a:off x="2926080" y="6355080"/>
            <a:ext cx="5486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© ForTroniQ d.o.o. — Sva prava pridržana</a:t>
            </a:r>
          </a:p>
        </p:txBody>
      </p:sp>
      <p:sp>
        <p:nvSpPr>
          <p:cNvPr id="4" name="FTQ_pod3"/>
          <p:cNvSpPr txBox="1"/>
          <p:nvPr/>
        </p:nvSpPr>
        <p:spPr>
          <a:xfrm>
            <a:off x="8074152" y="6355080"/>
            <a:ext cx="3657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Rescue Line · Tema 1: praćenje crte</a:t>
            </a:r>
          </a:p>
        </p:txBody>
      </p:sp>
      <p:sp>
        <p:nvSpPr>
          <p:cNvPr id="5" name="FTQ_nad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17656E"/>
                </a:solidFill>
                <a:latin typeface="Calibri"/>
              </a:rPr>
              <a:t>POLOŽAJ CRTE · KORAK 10/20 · KVIZ T03</a:t>
            </a:r>
          </a:p>
        </p:txBody>
      </p:sp>
      <p:sp>
        <p:nvSpPr>
          <p:cNvPr id="6" name="FTQ_naslov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 spc="-100">
                <a:solidFill>
                  <a:srgbClr val="10394A"/>
                </a:solidFill>
                <a:latin typeface="Calibri"/>
              </a:rPr>
              <a:t>lineCenter: gdje je crta</a:t>
            </a:r>
          </a:p>
        </p:txBody>
      </p:sp>
      <p:sp>
        <p:nvSpPr>
          <p:cNvPr id="7" name="FTQ_ploca"/>
          <p:cNvSpPr/>
          <p:nvPr/>
        </p:nvSpPr>
        <p:spPr>
          <a:xfrm>
            <a:off x="1463040" y="1325880"/>
            <a:ext cx="9235440" cy="4754880"/>
          </a:xfrm>
          <a:prstGeom prst="roundRect">
            <a:avLst>
              <a:gd name="adj" fmla="val 4000"/>
            </a:avLst>
          </a:prstGeom>
          <a:solidFill>
            <a:srgbClr val="EEF5F6"/>
          </a:solidFill>
          <a:ln w="12700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FTQ_qr" descr="qr_0279c7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4480560"/>
            <a:ext cx="1371600" cy="1371600"/>
          </a:xfrm>
          <a:prstGeom prst="rect">
            <a:avLst/>
          </a:prstGeom>
        </p:spPr>
      </p:pic>
      <p:sp>
        <p:nvSpPr>
          <p:cNvPr id="9" name="FTQ_qrt"/>
          <p:cNvSpPr txBox="1"/>
          <p:nvPr/>
        </p:nvSpPr>
        <p:spPr>
          <a:xfrm>
            <a:off x="6675120" y="530352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D7C90"/>
                </a:solidFill>
                <a:latin typeface="Calibri"/>
              </a:rPr>
              <a:t>Na mobitelu: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D7C90"/>
                </a:solidFill>
                <a:latin typeface="Calibri"/>
              </a:rPr>
              <a:t>fortroniq.hr/kviz/rescue-line-t1</a:t>
            </a:r>
          </a:p>
        </p:txBody>
      </p:sp>
      <p:sp>
        <p:nvSpPr>
          <p:cNvPr id="10" name="ANIM_kviz"/>
          <p:cNvSpPr txBox="1"/>
          <p:nvPr/>
        </p:nvSpPr>
        <p:spPr>
          <a:xfrm>
            <a:off x="1737360" y="1554480"/>
            <a:ext cx="7132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2000" b="1" i="0">
                <a:solidFill>
                  <a:srgbClr val="10394A"/>
                </a:solidFill>
                <a:latin typeface="Calibri"/>
              </a:rPr>
              <a:t>Letva javlja center() = 3400. Koliko vraća lineCenter()?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2000" b="0" i="0">
                <a:solidFill>
                  <a:srgbClr val="5D7C90"/>
                </a:solidFill>
                <a:latin typeface="Calibri"/>
              </a:rPr>
              <a:t>Upišite broj (decimalni zarez).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2000" b="1" i="0">
                <a:solidFill>
                  <a:srgbClr val="10394A"/>
                </a:solidFill>
                <a:latin typeface="Calibri"/>
              </a:rPr>
              <a:t>Točno: −20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2000" b="0" i="0">
                <a:solidFill>
                  <a:srgbClr val="5D7C90"/>
                </a:solidFill>
                <a:latin typeface="Calibri"/>
              </a:rPr>
              <a:t>lineCenter = (3400 − 5000) / 80 = −1600 / 80 = −20 (crta je oko 20 mm desno).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TQ_pod1"/>
          <p:cNvSpPr txBox="1"/>
          <p:nvPr/>
        </p:nvSpPr>
        <p:spPr>
          <a:xfrm>
            <a:off x="457200" y="6355080"/>
            <a:ext cx="2286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0394A"/>
                </a:solidFill>
                <a:latin typeface="Calibri"/>
              </a:rPr>
              <a:t>FORTRONIQ</a:t>
            </a:r>
          </a:p>
        </p:txBody>
      </p:sp>
      <p:sp>
        <p:nvSpPr>
          <p:cNvPr id="3" name="FTQ_pod2"/>
          <p:cNvSpPr txBox="1"/>
          <p:nvPr/>
        </p:nvSpPr>
        <p:spPr>
          <a:xfrm>
            <a:off x="2926080" y="6355080"/>
            <a:ext cx="5486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© ForTroniQ d.o.o. — Sva prava pridržana</a:t>
            </a:r>
          </a:p>
        </p:txBody>
      </p:sp>
      <p:sp>
        <p:nvSpPr>
          <p:cNvPr id="4" name="FTQ_pod3"/>
          <p:cNvSpPr txBox="1"/>
          <p:nvPr/>
        </p:nvSpPr>
        <p:spPr>
          <a:xfrm>
            <a:off x="8074152" y="6355080"/>
            <a:ext cx="3657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Rescue Line · Tema 1: praćenje crte</a:t>
            </a:r>
          </a:p>
        </p:txBody>
      </p:sp>
      <p:sp>
        <p:nvSpPr>
          <p:cNvPr id="5" name="FTQ_nad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17656E"/>
                </a:solidFill>
                <a:latin typeface="Calibri"/>
              </a:rPr>
              <a:t>REGULATOR · KORAK 11/20 · 34:00</a:t>
            </a:r>
          </a:p>
        </p:txBody>
      </p:sp>
      <p:sp>
        <p:nvSpPr>
          <p:cNvPr id="6" name="FTQ_naslov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 spc="-100">
                <a:solidFill>
                  <a:srgbClr val="10394A"/>
                </a:solidFill>
                <a:latin typeface="Calibri"/>
              </a:rPr>
              <a:t>P regulator</a:t>
            </a:r>
          </a:p>
        </p:txBody>
      </p:sp>
      <p:sp>
        <p:nvSpPr>
          <p:cNvPr id="7" name="FTQ_ploca"/>
          <p:cNvSpPr/>
          <p:nvPr/>
        </p:nvSpPr>
        <p:spPr>
          <a:xfrm>
            <a:off x="411480" y="1280160"/>
            <a:ext cx="7040880" cy="4000500"/>
          </a:xfrm>
          <a:prstGeom prst="rect">
            <a:avLst/>
          </a:prstGeom>
          <a:solidFill>
            <a:srgbClr val="EEF5F6"/>
          </a:solidFill>
          <a:ln w="12700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FTQ_slika" descr="k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949439" cy="3909059"/>
          </a:xfrm>
          <a:prstGeom prst="rect">
            <a:avLst/>
          </a:prstGeom>
        </p:spPr>
      </p:pic>
      <p:sp>
        <p:nvSpPr>
          <p:cNvPr id="9" name="FTQ_oz"/>
          <p:cNvSpPr txBox="1"/>
          <p:nvPr/>
        </p:nvSpPr>
        <p:spPr>
          <a:xfrm>
            <a:off x="457200" y="5390388"/>
            <a:ext cx="69494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17656E"/>
                </a:solidFill>
                <a:latin typeface="Calibri"/>
              </a:rPr>
              <a:t>NA ZASLONU</a:t>
            </a:r>
          </a:p>
        </p:txBody>
      </p:sp>
      <p:sp>
        <p:nvSpPr>
          <p:cNvPr id="10" name="FTQ_klik"/>
          <p:cNvSpPr txBox="1"/>
          <p:nvPr/>
        </p:nvSpPr>
        <p:spPr>
          <a:xfrm>
            <a:off x="457200" y="5637276"/>
            <a:ext cx="69494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D7C90"/>
                </a:solidFill>
                <a:latin typeface="Calibri"/>
              </a:rPr>
              <a:t>Slajd: u = KP · e; go(BRZINA − u, BRZINA + u). U simulatoru KD = 0, KP 1,4 pa 3.</a:t>
            </a:r>
          </a:p>
        </p:txBody>
      </p:sp>
      <p:sp>
        <p:nvSpPr>
          <p:cNvPr id="11" name="ANIM_tekst"/>
          <p:cNvSpPr txBox="1"/>
          <p:nvPr/>
        </p:nvSpPr>
        <p:spPr>
          <a:xfrm>
            <a:off x="7726679" y="1325880"/>
            <a:ext cx="400781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Najjednostavnije praćenje: što je crta dalje od sredine, to jače skrećemo.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Ispravak u je KP puta odstupanje e.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Lijevom motoru dajemo BRZINA minus u, desnom BRZINA plus u.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Ako je crta desno, e je negativan, lijevi kotač se vrti brže i robot skreće udesno — prema crti.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Pogledajmo u simulatoru s KD nula: mali KP — robot kasni u zavojima, veliki KP — njiše 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TQ_pod1"/>
          <p:cNvSpPr txBox="1"/>
          <p:nvPr/>
        </p:nvSpPr>
        <p:spPr>
          <a:xfrm>
            <a:off x="457200" y="6355080"/>
            <a:ext cx="2286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0394A"/>
                </a:solidFill>
                <a:latin typeface="Calibri"/>
              </a:rPr>
              <a:t>FORTRONIQ</a:t>
            </a:r>
          </a:p>
        </p:txBody>
      </p:sp>
      <p:sp>
        <p:nvSpPr>
          <p:cNvPr id="3" name="FTQ_pod2"/>
          <p:cNvSpPr txBox="1"/>
          <p:nvPr/>
        </p:nvSpPr>
        <p:spPr>
          <a:xfrm>
            <a:off x="2926080" y="6355080"/>
            <a:ext cx="5486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© ForTroniQ d.o.o. — Sva prava pridržana</a:t>
            </a:r>
          </a:p>
        </p:txBody>
      </p:sp>
      <p:sp>
        <p:nvSpPr>
          <p:cNvPr id="4" name="FTQ_pod3"/>
          <p:cNvSpPr txBox="1"/>
          <p:nvPr/>
        </p:nvSpPr>
        <p:spPr>
          <a:xfrm>
            <a:off x="8074152" y="6355080"/>
            <a:ext cx="3657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Rescue Line · Tema 1: praćenje crte</a:t>
            </a:r>
          </a:p>
        </p:txBody>
      </p:sp>
      <p:sp>
        <p:nvSpPr>
          <p:cNvPr id="5" name="FTQ_nad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17656E"/>
                </a:solidFill>
                <a:latin typeface="Calibri"/>
              </a:rPr>
              <a:t>REGULATOR · KORAK 11/20 · KVIZ T05</a:t>
            </a:r>
          </a:p>
        </p:txBody>
      </p:sp>
      <p:sp>
        <p:nvSpPr>
          <p:cNvPr id="6" name="FTQ_naslov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 spc="-100">
                <a:solidFill>
                  <a:srgbClr val="10394A"/>
                </a:solidFill>
                <a:latin typeface="Calibri"/>
              </a:rPr>
              <a:t>P regulator</a:t>
            </a:r>
          </a:p>
        </p:txBody>
      </p:sp>
      <p:sp>
        <p:nvSpPr>
          <p:cNvPr id="7" name="FTQ_ploca"/>
          <p:cNvSpPr/>
          <p:nvPr/>
        </p:nvSpPr>
        <p:spPr>
          <a:xfrm>
            <a:off x="1463040" y="1325880"/>
            <a:ext cx="9235440" cy="4754880"/>
          </a:xfrm>
          <a:prstGeom prst="roundRect">
            <a:avLst>
              <a:gd name="adj" fmla="val 4000"/>
            </a:avLst>
          </a:prstGeom>
          <a:solidFill>
            <a:srgbClr val="EEF5F6"/>
          </a:solidFill>
          <a:ln w="12700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FTQ_qr" descr="qr_eb1a62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4480560"/>
            <a:ext cx="1371600" cy="1371600"/>
          </a:xfrm>
          <a:prstGeom prst="rect">
            <a:avLst/>
          </a:prstGeom>
        </p:spPr>
      </p:pic>
      <p:sp>
        <p:nvSpPr>
          <p:cNvPr id="9" name="FTQ_qrt"/>
          <p:cNvSpPr txBox="1"/>
          <p:nvPr/>
        </p:nvSpPr>
        <p:spPr>
          <a:xfrm>
            <a:off x="6675120" y="530352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D7C90"/>
                </a:solidFill>
                <a:latin typeface="Calibri"/>
              </a:rPr>
              <a:t>Na mobitelu: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D7C90"/>
                </a:solidFill>
                <a:latin typeface="Calibri"/>
              </a:rPr>
              <a:t>fortroniq.hr/kviz/rescue-line-t1</a:t>
            </a:r>
          </a:p>
        </p:txBody>
      </p:sp>
      <p:sp>
        <p:nvSpPr>
          <p:cNvPr id="10" name="ANIM_kviz"/>
          <p:cNvSpPr txBox="1"/>
          <p:nvPr/>
        </p:nvSpPr>
        <p:spPr>
          <a:xfrm>
            <a:off x="1737360" y="1554480"/>
            <a:ext cx="7132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2000" b="1" i="0">
                <a:solidFill>
                  <a:srgbClr val="10394A"/>
                </a:solidFill>
                <a:latin typeface="Calibri"/>
              </a:rPr>
              <a:t>P regulator: BRZINA = 60, KP = 1,4, lineCenter() = −20, KD = 0. Koliko je zadano lijevom motoru, go(BRZINA − u, BRZINA + u)?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2000" b="0" i="0">
                <a:solidFill>
                  <a:srgbClr val="5D7C90"/>
                </a:solidFill>
                <a:latin typeface="Calibri"/>
              </a:rPr>
              <a:t>Upišite broj (decimalni zarez).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2000" b="1" i="0">
                <a:solidFill>
                  <a:srgbClr val="10394A"/>
                </a:solidFill>
                <a:latin typeface="Calibri"/>
              </a:rPr>
              <a:t>Točno: 88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2000" b="0" i="0">
                <a:solidFill>
                  <a:srgbClr val="5D7C90"/>
                </a:solidFill>
                <a:latin typeface="Calibri"/>
              </a:rPr>
              <a:t>u = KP · e = 1,4 · (−20) = −28.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2000" b="0" i="0">
                <a:solidFill>
                  <a:srgbClr val="5D7C90"/>
                </a:solidFill>
                <a:latin typeface="Calibri"/>
              </a:rPr>
              <a:t>Lijevi: 60 − (−28) = 88, desni: 60 + (−28) = 32.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2000" b="0" i="0">
                <a:solidFill>
                  <a:srgbClr val="5D7C90"/>
                </a:solidFill>
                <a:latin typeface="Calibri"/>
              </a:rPr>
              <a:t>Lijevi je brži, robot skreće udesno — prema crti.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TQ_pod1"/>
          <p:cNvSpPr txBox="1"/>
          <p:nvPr/>
        </p:nvSpPr>
        <p:spPr>
          <a:xfrm>
            <a:off x="457200" y="6355080"/>
            <a:ext cx="2286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0394A"/>
                </a:solidFill>
                <a:latin typeface="Calibri"/>
              </a:rPr>
              <a:t>FORTRONIQ</a:t>
            </a:r>
          </a:p>
        </p:txBody>
      </p:sp>
      <p:sp>
        <p:nvSpPr>
          <p:cNvPr id="3" name="FTQ_pod2"/>
          <p:cNvSpPr txBox="1"/>
          <p:nvPr/>
        </p:nvSpPr>
        <p:spPr>
          <a:xfrm>
            <a:off x="2926080" y="6355080"/>
            <a:ext cx="5486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© ForTroniQ d.o.o. — Sva prava pridržana</a:t>
            </a:r>
          </a:p>
        </p:txBody>
      </p:sp>
      <p:sp>
        <p:nvSpPr>
          <p:cNvPr id="4" name="FTQ_pod3"/>
          <p:cNvSpPr txBox="1"/>
          <p:nvPr/>
        </p:nvSpPr>
        <p:spPr>
          <a:xfrm>
            <a:off x="8074152" y="6355080"/>
            <a:ext cx="3657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Rescue Line · Tema 1: praćenje crte</a:t>
            </a:r>
          </a:p>
        </p:txBody>
      </p:sp>
      <p:sp>
        <p:nvSpPr>
          <p:cNvPr id="5" name="FTQ_nad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17656E"/>
                </a:solidFill>
                <a:latin typeface="Calibri"/>
              </a:rPr>
              <a:t>REGULATOR · KORAK 12/20 · 40:00</a:t>
            </a:r>
          </a:p>
        </p:txBody>
      </p:sp>
      <p:sp>
        <p:nvSpPr>
          <p:cNvPr id="6" name="FTQ_naslov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 spc="-100">
                <a:solidFill>
                  <a:srgbClr val="10394A"/>
                </a:solidFill>
                <a:latin typeface="Calibri"/>
              </a:rPr>
              <a:t>PD regulator</a:t>
            </a:r>
          </a:p>
        </p:txBody>
      </p:sp>
      <p:sp>
        <p:nvSpPr>
          <p:cNvPr id="7" name="FTQ_ploca"/>
          <p:cNvSpPr/>
          <p:nvPr/>
        </p:nvSpPr>
        <p:spPr>
          <a:xfrm>
            <a:off x="411480" y="1280160"/>
            <a:ext cx="7040880" cy="4000500"/>
          </a:xfrm>
          <a:prstGeom prst="rect">
            <a:avLst/>
          </a:prstGeom>
          <a:solidFill>
            <a:srgbClr val="EEF5F6"/>
          </a:solidFill>
          <a:ln w="12700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FTQ_slika" descr="k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949439" cy="3909059"/>
          </a:xfrm>
          <a:prstGeom prst="rect">
            <a:avLst/>
          </a:prstGeom>
        </p:spPr>
      </p:pic>
      <p:sp>
        <p:nvSpPr>
          <p:cNvPr id="9" name="FTQ_oz"/>
          <p:cNvSpPr txBox="1"/>
          <p:nvPr/>
        </p:nvSpPr>
        <p:spPr>
          <a:xfrm>
            <a:off x="457200" y="5390388"/>
            <a:ext cx="69494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17656E"/>
                </a:solidFill>
                <a:latin typeface="Calibri"/>
              </a:rPr>
              <a:t>NA ZASLONU</a:t>
            </a:r>
          </a:p>
        </p:txBody>
      </p:sp>
      <p:sp>
        <p:nvSpPr>
          <p:cNvPr id="10" name="FTQ_klik"/>
          <p:cNvSpPr txBox="1"/>
          <p:nvPr/>
        </p:nvSpPr>
        <p:spPr>
          <a:xfrm>
            <a:off x="457200" y="5637276"/>
            <a:ext cx="69494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D7C90"/>
                </a:solidFill>
                <a:latin typeface="Calibri"/>
              </a:rPr>
              <a:t>U simulatoru: KP 1,4 i KD 0, pa KD 5; usporedba njihanja.</a:t>
            </a:r>
          </a:p>
        </p:txBody>
      </p:sp>
      <p:sp>
        <p:nvSpPr>
          <p:cNvPr id="11" name="ANIM_tekst"/>
          <p:cNvSpPr txBox="1"/>
          <p:nvPr/>
        </p:nvSpPr>
        <p:spPr>
          <a:xfrm>
            <a:off x="7726679" y="1325880"/>
            <a:ext cx="400781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D član gleda koliko se brzo mijenja odstupanje: KD puta e minus prošli e.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Kad se robot brzo vraća prema crti, D smanjuje ispravak i robot se ne prebaci preko crte.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Vidite razliku: s KD pet robot vozi mirnije i može brže.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Na vašem robotu brojevi će biti drukčiji, ali postupak podešavanja je isti: najprije KP dok se ne počne njihati, onda dodajte KD.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TQ_pod1"/>
          <p:cNvSpPr txBox="1"/>
          <p:nvPr/>
        </p:nvSpPr>
        <p:spPr>
          <a:xfrm>
            <a:off x="457200" y="6355080"/>
            <a:ext cx="2286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0394A"/>
                </a:solidFill>
                <a:latin typeface="Calibri"/>
              </a:rPr>
              <a:t>FORTRONIQ</a:t>
            </a:r>
          </a:p>
        </p:txBody>
      </p:sp>
      <p:sp>
        <p:nvSpPr>
          <p:cNvPr id="3" name="FTQ_pod2"/>
          <p:cNvSpPr txBox="1"/>
          <p:nvPr/>
        </p:nvSpPr>
        <p:spPr>
          <a:xfrm>
            <a:off x="2926080" y="6355080"/>
            <a:ext cx="5486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© ForTroniQ d.o.o. — Sva prava pridržana</a:t>
            </a:r>
          </a:p>
        </p:txBody>
      </p:sp>
      <p:sp>
        <p:nvSpPr>
          <p:cNvPr id="4" name="FTQ_pod3"/>
          <p:cNvSpPr txBox="1"/>
          <p:nvPr/>
        </p:nvSpPr>
        <p:spPr>
          <a:xfrm>
            <a:off x="8074152" y="6355080"/>
            <a:ext cx="3657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Rescue Line · Tema 1: praćenje crte</a:t>
            </a:r>
          </a:p>
        </p:txBody>
      </p:sp>
      <p:sp>
        <p:nvSpPr>
          <p:cNvPr id="5" name="FTQ_nad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17656E"/>
                </a:solidFill>
                <a:latin typeface="Calibri"/>
              </a:rPr>
              <a:t>REGULATOR · KORAK 12/20 · KVIZ T06</a:t>
            </a:r>
          </a:p>
        </p:txBody>
      </p:sp>
      <p:sp>
        <p:nvSpPr>
          <p:cNvPr id="6" name="FTQ_naslov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 spc="-100">
                <a:solidFill>
                  <a:srgbClr val="10394A"/>
                </a:solidFill>
                <a:latin typeface="Calibri"/>
              </a:rPr>
              <a:t>PD regulator</a:t>
            </a:r>
          </a:p>
        </p:txBody>
      </p:sp>
      <p:sp>
        <p:nvSpPr>
          <p:cNvPr id="7" name="FTQ_ploca"/>
          <p:cNvSpPr/>
          <p:nvPr/>
        </p:nvSpPr>
        <p:spPr>
          <a:xfrm>
            <a:off x="1463040" y="1325880"/>
            <a:ext cx="9235440" cy="4754880"/>
          </a:xfrm>
          <a:prstGeom prst="roundRect">
            <a:avLst>
              <a:gd name="adj" fmla="val 4000"/>
            </a:avLst>
          </a:prstGeom>
          <a:solidFill>
            <a:srgbClr val="EEF5F6"/>
          </a:solidFill>
          <a:ln w="12700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FTQ_qr" descr="qr_721333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4480560"/>
            <a:ext cx="1371600" cy="1371600"/>
          </a:xfrm>
          <a:prstGeom prst="rect">
            <a:avLst/>
          </a:prstGeom>
        </p:spPr>
      </p:pic>
      <p:sp>
        <p:nvSpPr>
          <p:cNvPr id="9" name="FTQ_qrt"/>
          <p:cNvSpPr txBox="1"/>
          <p:nvPr/>
        </p:nvSpPr>
        <p:spPr>
          <a:xfrm>
            <a:off x="6675120" y="530352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D7C90"/>
                </a:solidFill>
                <a:latin typeface="Calibri"/>
              </a:rPr>
              <a:t>Na mobitelu: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D7C90"/>
                </a:solidFill>
                <a:latin typeface="Calibri"/>
              </a:rPr>
              <a:t>fortroniq.hr/kviz/rescue-line-t1</a:t>
            </a:r>
          </a:p>
        </p:txBody>
      </p:sp>
      <p:sp>
        <p:nvSpPr>
          <p:cNvPr id="10" name="ANIM_kviz"/>
          <p:cNvSpPr txBox="1"/>
          <p:nvPr/>
        </p:nvSpPr>
        <p:spPr>
          <a:xfrm>
            <a:off x="1737360" y="1554480"/>
            <a:ext cx="7132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65"/>
              </a:spcAft>
            </a:pPr>
            <a:r>
              <a:rPr sz="1900" b="1" i="0">
                <a:solidFill>
                  <a:srgbClr val="10394A"/>
                </a:solidFill>
                <a:latin typeface="Calibri"/>
              </a:rPr>
              <a:t>Čemu služi D član u PD regulatoru praćenja crte?</a:t>
            </a:r>
          </a:p>
          <a:p>
            <a:pPr>
              <a:lnSpc>
                <a:spcPct val="108000"/>
              </a:lnSpc>
              <a:spcAft>
                <a:spcPts val="665"/>
              </a:spcAft>
            </a:pPr>
            <a:r>
              <a:rPr sz="1900" b="0" i="0">
                <a:solidFill>
                  <a:srgbClr val="10394A"/>
                </a:solidFill>
                <a:latin typeface="Calibri"/>
              </a:rPr>
              <a:t>A)  koči ispravljanje kad se odstupanje brzo mijenja, pa se robot manje njiše</a:t>
            </a:r>
          </a:p>
          <a:p>
            <a:pPr>
              <a:lnSpc>
                <a:spcPct val="108000"/>
              </a:lnSpc>
              <a:spcAft>
                <a:spcPts val="665"/>
              </a:spcAft>
            </a:pPr>
            <a:r>
              <a:rPr sz="1900" b="0" i="0">
                <a:solidFill>
                  <a:srgbClr val="10394A"/>
                </a:solidFill>
                <a:latin typeface="Calibri"/>
              </a:rPr>
              <a:t>B)  povećava brzinu na ravnom</a:t>
            </a:r>
          </a:p>
          <a:p>
            <a:pPr>
              <a:lnSpc>
                <a:spcPct val="108000"/>
              </a:lnSpc>
              <a:spcAft>
                <a:spcPts val="665"/>
              </a:spcAft>
            </a:pPr>
            <a:r>
              <a:rPr sz="1900" b="0" i="0">
                <a:solidFill>
                  <a:srgbClr val="10394A"/>
                </a:solidFill>
                <a:latin typeface="Calibri"/>
              </a:rPr>
              <a:t>C)  pamti gdje je crta bila prije rupe</a:t>
            </a:r>
          </a:p>
          <a:p>
            <a:pPr>
              <a:lnSpc>
                <a:spcPct val="108000"/>
              </a:lnSpc>
              <a:spcAft>
                <a:spcPts val="665"/>
              </a:spcAft>
            </a:pPr>
            <a:r>
              <a:rPr sz="1900" b="0" i="0">
                <a:solidFill>
                  <a:srgbClr val="10394A"/>
                </a:solidFill>
                <a:latin typeface="Calibri"/>
              </a:rPr>
              <a:t>D)  mjeri nagib kosine</a:t>
            </a:r>
          </a:p>
          <a:p>
            <a:pPr>
              <a:lnSpc>
                <a:spcPct val="108000"/>
              </a:lnSpc>
              <a:spcAft>
                <a:spcPts val="665"/>
              </a:spcAft>
            </a:pPr>
            <a:r>
              <a:rPr sz="1900" b="1" i="0">
                <a:solidFill>
                  <a:srgbClr val="10394A"/>
                </a:solidFill>
                <a:latin typeface="Calibri"/>
              </a:rPr>
              <a:t>Točno: A) koči ispravljanje kad se odstupanje brzo mijenja, pa se robot manje njiše</a:t>
            </a:r>
          </a:p>
          <a:p>
            <a:pPr>
              <a:lnSpc>
                <a:spcPct val="108000"/>
              </a:lnSpc>
              <a:spcAft>
                <a:spcPts val="665"/>
              </a:spcAft>
            </a:pPr>
            <a:r>
              <a:rPr sz="1900" b="0" i="0">
                <a:solidFill>
                  <a:srgbClr val="5D7C90"/>
                </a:solidFill>
                <a:latin typeface="Calibri"/>
              </a:rPr>
              <a:t>D član množi promjenu odstupanja (e − prosla).</a:t>
            </a:r>
          </a:p>
          <a:p>
            <a:pPr>
              <a:lnSpc>
                <a:spcPct val="108000"/>
              </a:lnSpc>
              <a:spcAft>
                <a:spcPts val="665"/>
              </a:spcAft>
            </a:pPr>
            <a:r>
              <a:rPr sz="1900" b="0" i="0">
                <a:solidFill>
                  <a:srgbClr val="5D7C90"/>
                </a:solidFill>
                <a:latin typeface="Calibri"/>
              </a:rPr>
              <a:t>Kad se robot brzo vraća prema crti, D smanjuje ispravak i prigušuje njihanje.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TQ_pod1"/>
          <p:cNvSpPr txBox="1"/>
          <p:nvPr/>
        </p:nvSpPr>
        <p:spPr>
          <a:xfrm>
            <a:off x="457200" y="6355080"/>
            <a:ext cx="2286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0394A"/>
                </a:solidFill>
                <a:latin typeface="Calibri"/>
              </a:rPr>
              <a:t>FORTRONIQ</a:t>
            </a:r>
          </a:p>
        </p:txBody>
      </p:sp>
      <p:sp>
        <p:nvSpPr>
          <p:cNvPr id="3" name="FTQ_pod2"/>
          <p:cNvSpPr txBox="1"/>
          <p:nvPr/>
        </p:nvSpPr>
        <p:spPr>
          <a:xfrm>
            <a:off x="2926080" y="6355080"/>
            <a:ext cx="5486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© ForTroniQ d.o.o. — Sva prava pridržana</a:t>
            </a:r>
          </a:p>
        </p:txBody>
      </p:sp>
      <p:sp>
        <p:nvSpPr>
          <p:cNvPr id="4" name="FTQ_pod3"/>
          <p:cNvSpPr txBox="1"/>
          <p:nvPr/>
        </p:nvSpPr>
        <p:spPr>
          <a:xfrm>
            <a:off x="8074152" y="6355080"/>
            <a:ext cx="3657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Rescue Line · Tema 1: praćenje crte</a:t>
            </a:r>
          </a:p>
        </p:txBody>
      </p:sp>
      <p:sp>
        <p:nvSpPr>
          <p:cNvPr id="5" name="FTQ_nad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17656E"/>
                </a:solidFill>
                <a:latin typeface="Calibri"/>
              </a:rPr>
              <a:t>RUPA · KORAK 13/20 · 47:00</a:t>
            </a:r>
          </a:p>
        </p:txBody>
      </p:sp>
      <p:sp>
        <p:nvSpPr>
          <p:cNvPr id="6" name="FTQ_naslov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 spc="-100">
                <a:solidFill>
                  <a:srgbClr val="10394A"/>
                </a:solidFill>
                <a:latin typeface="Calibri"/>
              </a:rPr>
              <a:t>Rupa u crti i traženje</a:t>
            </a:r>
          </a:p>
        </p:txBody>
      </p:sp>
      <p:sp>
        <p:nvSpPr>
          <p:cNvPr id="7" name="FTQ_ploca"/>
          <p:cNvSpPr/>
          <p:nvPr/>
        </p:nvSpPr>
        <p:spPr>
          <a:xfrm>
            <a:off x="411480" y="1280160"/>
            <a:ext cx="7040880" cy="4000500"/>
          </a:xfrm>
          <a:prstGeom prst="rect">
            <a:avLst/>
          </a:prstGeom>
          <a:solidFill>
            <a:srgbClr val="EEF5F6"/>
          </a:solidFill>
          <a:ln w="12700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FTQ_slika" descr="k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949439" cy="3909059"/>
          </a:xfrm>
          <a:prstGeom prst="rect">
            <a:avLst/>
          </a:prstGeom>
        </p:spPr>
      </p:pic>
      <p:sp>
        <p:nvSpPr>
          <p:cNvPr id="9" name="FTQ_oz"/>
          <p:cNvSpPr txBox="1"/>
          <p:nvPr/>
        </p:nvSpPr>
        <p:spPr>
          <a:xfrm>
            <a:off x="457200" y="5390388"/>
            <a:ext cx="69494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17656E"/>
                </a:solidFill>
                <a:latin typeface="Calibri"/>
              </a:rPr>
              <a:t>NA ZASLONU</a:t>
            </a:r>
          </a:p>
        </p:txBody>
      </p:sp>
      <p:sp>
        <p:nvSpPr>
          <p:cNvPr id="10" name="FTQ_klik"/>
          <p:cNvSpPr txBox="1"/>
          <p:nvPr/>
        </p:nvSpPr>
        <p:spPr>
          <a:xfrm>
            <a:off x="457200" y="5637276"/>
            <a:ext cx="69494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D7C90"/>
                </a:solidFill>
                <a:latin typeface="Calibri"/>
              </a:rPr>
              <a:t>Simulator: robot na pločici G; stanja crta → rupa → crta; slajd s razlikom rupe i oštrog zavoja.</a:t>
            </a:r>
          </a:p>
        </p:txBody>
      </p:sp>
      <p:sp>
        <p:nvSpPr>
          <p:cNvPr id="11" name="ANIM_tekst"/>
          <p:cNvSpPr txBox="1"/>
          <p:nvPr/>
        </p:nvSpPr>
        <p:spPr>
          <a:xfrm>
            <a:off x="7726679" y="1325880"/>
            <a:ext cx="400781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Kad nijedan senzor ne vidi crtu, postoje dvije mogućnosti: rupa ili je crta pobjegla u stranu u oštrom zavoju.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Razlikujemo ih po zadnjem položaju crte.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Ako je crta zadnji put bila blizu sredine, to je rupa: vozimo ravno najviše RUPA_MS milisekundi.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Ako je bila na rubu, odmah tražimo okretom na tu stranu, pa sve šire lijevo-desno.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Rupa je do 20 centimetara, pa pri 25 centimetara u sekundi treba barem 800 milisekundi.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TQ_pod1"/>
          <p:cNvSpPr txBox="1"/>
          <p:nvPr/>
        </p:nvSpPr>
        <p:spPr>
          <a:xfrm>
            <a:off x="457200" y="6355080"/>
            <a:ext cx="2286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0394A"/>
                </a:solidFill>
                <a:latin typeface="Calibri"/>
              </a:rPr>
              <a:t>FORTRONIQ</a:t>
            </a:r>
          </a:p>
        </p:txBody>
      </p:sp>
      <p:sp>
        <p:nvSpPr>
          <p:cNvPr id="3" name="FTQ_pod2"/>
          <p:cNvSpPr txBox="1"/>
          <p:nvPr/>
        </p:nvSpPr>
        <p:spPr>
          <a:xfrm>
            <a:off x="2926080" y="6355080"/>
            <a:ext cx="5486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© ForTroniQ d.o.o. — Sva prava pridržana</a:t>
            </a:r>
          </a:p>
        </p:txBody>
      </p:sp>
      <p:sp>
        <p:nvSpPr>
          <p:cNvPr id="4" name="FTQ_pod3"/>
          <p:cNvSpPr txBox="1"/>
          <p:nvPr/>
        </p:nvSpPr>
        <p:spPr>
          <a:xfrm>
            <a:off x="8074152" y="6355080"/>
            <a:ext cx="3657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Rescue Line · Tema 1: praćenje crte</a:t>
            </a:r>
          </a:p>
        </p:txBody>
      </p:sp>
      <p:sp>
        <p:nvSpPr>
          <p:cNvPr id="5" name="FTQ_nad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17656E"/>
                </a:solidFill>
                <a:latin typeface="Calibri"/>
              </a:rPr>
              <a:t>RUPA · KORAK 13/20 · KVIZ T07</a:t>
            </a:r>
          </a:p>
        </p:txBody>
      </p:sp>
      <p:sp>
        <p:nvSpPr>
          <p:cNvPr id="6" name="FTQ_naslov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 spc="-100">
                <a:solidFill>
                  <a:srgbClr val="10394A"/>
                </a:solidFill>
                <a:latin typeface="Calibri"/>
              </a:rPr>
              <a:t>Rupa u crti i traženje</a:t>
            </a:r>
          </a:p>
        </p:txBody>
      </p:sp>
      <p:sp>
        <p:nvSpPr>
          <p:cNvPr id="7" name="FTQ_ploca"/>
          <p:cNvSpPr/>
          <p:nvPr/>
        </p:nvSpPr>
        <p:spPr>
          <a:xfrm>
            <a:off x="1463040" y="1325880"/>
            <a:ext cx="9235440" cy="4754880"/>
          </a:xfrm>
          <a:prstGeom prst="roundRect">
            <a:avLst>
              <a:gd name="adj" fmla="val 4000"/>
            </a:avLst>
          </a:prstGeom>
          <a:solidFill>
            <a:srgbClr val="EEF5F6"/>
          </a:solidFill>
          <a:ln w="12700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FTQ_qr" descr="qr_051403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4480560"/>
            <a:ext cx="1371600" cy="1371600"/>
          </a:xfrm>
          <a:prstGeom prst="rect">
            <a:avLst/>
          </a:prstGeom>
        </p:spPr>
      </p:pic>
      <p:sp>
        <p:nvSpPr>
          <p:cNvPr id="9" name="FTQ_qrt"/>
          <p:cNvSpPr txBox="1"/>
          <p:nvPr/>
        </p:nvSpPr>
        <p:spPr>
          <a:xfrm>
            <a:off x="6675120" y="530352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D7C90"/>
                </a:solidFill>
                <a:latin typeface="Calibri"/>
              </a:rPr>
              <a:t>Na mobitelu: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D7C90"/>
                </a:solidFill>
                <a:latin typeface="Calibri"/>
              </a:rPr>
              <a:t>fortroniq.hr/kviz/rescue-line-t1</a:t>
            </a:r>
          </a:p>
        </p:txBody>
      </p:sp>
      <p:sp>
        <p:nvSpPr>
          <p:cNvPr id="10" name="ANIM_kviz"/>
          <p:cNvSpPr txBox="1"/>
          <p:nvPr/>
        </p:nvSpPr>
        <p:spPr>
          <a:xfrm>
            <a:off x="1737360" y="1554480"/>
            <a:ext cx="7132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2000" b="1" i="0">
                <a:solidFill>
                  <a:srgbClr val="10394A"/>
                </a:solidFill>
                <a:latin typeface="Calibri"/>
              </a:rPr>
              <a:t>Rupa u crti je 20 cm, robot vozi 0,25 m/s. Koliko ms (najmanje) treba voziti ravno bez crte?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2000" b="0" i="0">
                <a:solidFill>
                  <a:srgbClr val="5D7C90"/>
                </a:solidFill>
                <a:latin typeface="Calibri"/>
              </a:rPr>
              <a:t>Upišite broj u ms (decimalni zarez).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2000" b="1" i="0">
                <a:solidFill>
                  <a:srgbClr val="10394A"/>
                </a:solidFill>
                <a:latin typeface="Calibri"/>
              </a:rPr>
              <a:t>Točno: 800 ms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2000" b="0" i="0">
                <a:solidFill>
                  <a:srgbClr val="5D7C90"/>
                </a:solidFill>
                <a:latin typeface="Calibri"/>
              </a:rPr>
              <a:t>t = 0,20 m / 0,25 m/s = 0,8 s = 800 ms.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2000" b="0" i="0">
                <a:solidFill>
                  <a:srgbClr val="5D7C90"/>
                </a:solidFill>
                <a:latin typeface="Calibri"/>
              </a:rPr>
              <a:t>RUPA_MS se postavlja malo iznad toga (npr.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2000" b="0" i="0">
                <a:solidFill>
                  <a:srgbClr val="5D7C90"/>
                </a:solidFill>
                <a:latin typeface="Calibri"/>
              </a:rPr>
              <a:t>1000 ms), a poslije se crta traži.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TQ_pod1"/>
          <p:cNvSpPr txBox="1"/>
          <p:nvPr/>
        </p:nvSpPr>
        <p:spPr>
          <a:xfrm>
            <a:off x="457200" y="6355080"/>
            <a:ext cx="2286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0394A"/>
                </a:solidFill>
                <a:latin typeface="Calibri"/>
              </a:rPr>
              <a:t>FORTRONIQ</a:t>
            </a:r>
          </a:p>
        </p:txBody>
      </p:sp>
      <p:sp>
        <p:nvSpPr>
          <p:cNvPr id="3" name="FTQ_pod2"/>
          <p:cNvSpPr txBox="1"/>
          <p:nvPr/>
        </p:nvSpPr>
        <p:spPr>
          <a:xfrm>
            <a:off x="2926080" y="6355080"/>
            <a:ext cx="5486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© ForTroniQ d.o.o. — Sva prava pridržana</a:t>
            </a:r>
          </a:p>
        </p:txBody>
      </p:sp>
      <p:sp>
        <p:nvSpPr>
          <p:cNvPr id="4" name="FTQ_pod3"/>
          <p:cNvSpPr txBox="1"/>
          <p:nvPr/>
        </p:nvSpPr>
        <p:spPr>
          <a:xfrm>
            <a:off x="8074152" y="6355080"/>
            <a:ext cx="3657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Rescue Line · Tema 1: praćenje crte</a:t>
            </a:r>
          </a:p>
        </p:txBody>
      </p:sp>
      <p:sp>
        <p:nvSpPr>
          <p:cNvPr id="5" name="FTQ_nad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17656E"/>
                </a:solidFill>
                <a:latin typeface="Calibri"/>
              </a:rPr>
              <a:t>RUPA · KORAK 13/20 · KVIZ T08</a:t>
            </a:r>
          </a:p>
        </p:txBody>
      </p:sp>
      <p:sp>
        <p:nvSpPr>
          <p:cNvPr id="6" name="FTQ_naslov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 spc="-100">
                <a:solidFill>
                  <a:srgbClr val="10394A"/>
                </a:solidFill>
                <a:latin typeface="Calibri"/>
              </a:rPr>
              <a:t>Rupa u crti i traženje</a:t>
            </a:r>
          </a:p>
        </p:txBody>
      </p:sp>
      <p:sp>
        <p:nvSpPr>
          <p:cNvPr id="7" name="FTQ_ploca"/>
          <p:cNvSpPr/>
          <p:nvPr/>
        </p:nvSpPr>
        <p:spPr>
          <a:xfrm>
            <a:off x="1463040" y="1325880"/>
            <a:ext cx="9235440" cy="4754880"/>
          </a:xfrm>
          <a:prstGeom prst="roundRect">
            <a:avLst>
              <a:gd name="adj" fmla="val 4000"/>
            </a:avLst>
          </a:prstGeom>
          <a:solidFill>
            <a:srgbClr val="EEF5F6"/>
          </a:solidFill>
          <a:ln w="12700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FTQ_qr" descr="qr_95ab1e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4480560"/>
            <a:ext cx="1371600" cy="1371600"/>
          </a:xfrm>
          <a:prstGeom prst="rect">
            <a:avLst/>
          </a:prstGeom>
        </p:spPr>
      </p:pic>
      <p:sp>
        <p:nvSpPr>
          <p:cNvPr id="9" name="FTQ_qrt"/>
          <p:cNvSpPr txBox="1"/>
          <p:nvPr/>
        </p:nvSpPr>
        <p:spPr>
          <a:xfrm>
            <a:off x="6675120" y="530352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D7C90"/>
                </a:solidFill>
                <a:latin typeface="Calibri"/>
              </a:rPr>
              <a:t>Na mobitelu: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D7C90"/>
                </a:solidFill>
                <a:latin typeface="Calibri"/>
              </a:rPr>
              <a:t>fortroniq.hr/kviz/rescue-line-t1</a:t>
            </a:r>
          </a:p>
        </p:txBody>
      </p:sp>
      <p:sp>
        <p:nvSpPr>
          <p:cNvPr id="10" name="ANIM_kviz"/>
          <p:cNvSpPr txBox="1"/>
          <p:nvPr/>
        </p:nvSpPr>
        <p:spPr>
          <a:xfrm>
            <a:off x="1737360" y="1554480"/>
            <a:ext cx="7132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94"/>
              </a:spcAft>
            </a:pPr>
            <a:r>
              <a:rPr sz="1700" b="1" i="0">
                <a:solidFill>
                  <a:srgbClr val="10394A"/>
                </a:solidFill>
                <a:latin typeface="Calibri"/>
              </a:rPr>
              <a:t>Robot izgubi crtu. Kako program razlikuje rupu od oštrog zavoja?</a:t>
            </a:r>
          </a:p>
          <a:p>
            <a:pPr>
              <a:lnSpc>
                <a:spcPct val="108000"/>
              </a:lnSpc>
              <a:spcAft>
                <a:spcPts val="594"/>
              </a:spcAft>
            </a:pPr>
            <a:r>
              <a:rPr sz="1700" b="0" i="0">
                <a:solidFill>
                  <a:srgbClr val="10394A"/>
                </a:solidFill>
                <a:latin typeface="Calibri"/>
              </a:rPr>
              <a:t>A)  po nagibu robota</a:t>
            </a:r>
          </a:p>
          <a:p>
            <a:pPr>
              <a:lnSpc>
                <a:spcPct val="108000"/>
              </a:lnSpc>
              <a:spcAft>
                <a:spcPts val="594"/>
              </a:spcAft>
            </a:pPr>
            <a:r>
              <a:rPr sz="1700" b="0" i="0">
                <a:solidFill>
                  <a:srgbClr val="10394A"/>
                </a:solidFill>
                <a:latin typeface="Calibri"/>
              </a:rPr>
              <a:t>B)  po lidaru sprijeda</a:t>
            </a:r>
          </a:p>
          <a:p>
            <a:pPr>
              <a:lnSpc>
                <a:spcPct val="108000"/>
              </a:lnSpc>
              <a:spcAft>
                <a:spcPts val="594"/>
              </a:spcAft>
            </a:pPr>
            <a:r>
              <a:rPr sz="1700" b="0" i="0">
                <a:solidFill>
                  <a:srgbClr val="10394A"/>
                </a:solidFill>
                <a:latin typeface="Calibri"/>
              </a:rPr>
              <a:t>C)  ne razlikuje, uvijek vozi ravno</a:t>
            </a:r>
          </a:p>
          <a:p>
            <a:pPr>
              <a:lnSpc>
                <a:spcPct val="108000"/>
              </a:lnSpc>
              <a:spcAft>
                <a:spcPts val="594"/>
              </a:spcAft>
            </a:pPr>
            <a:r>
              <a:rPr sz="1700" b="0" i="0">
                <a:solidFill>
                  <a:srgbClr val="10394A"/>
                </a:solidFill>
                <a:latin typeface="Calibri"/>
              </a:rPr>
              <a:t>D)  po zadnjem položaju crte: ako je bila na rubu letve, to je zavoj</a:t>
            </a:r>
          </a:p>
          <a:p>
            <a:pPr>
              <a:lnSpc>
                <a:spcPct val="108000"/>
              </a:lnSpc>
              <a:spcAft>
                <a:spcPts val="594"/>
              </a:spcAft>
            </a:pPr>
            <a:r>
              <a:rPr sz="1700" b="1" i="0">
                <a:solidFill>
                  <a:srgbClr val="10394A"/>
                </a:solidFill>
                <a:latin typeface="Calibri"/>
              </a:rPr>
              <a:t>Točno: D) po zadnjem položaju crte: ako je bila na rubu letve, to je zavoj</a:t>
            </a:r>
          </a:p>
          <a:p>
            <a:pPr>
              <a:lnSpc>
                <a:spcPct val="108000"/>
              </a:lnSpc>
              <a:spcAft>
                <a:spcPts val="594"/>
              </a:spcAft>
            </a:pPr>
            <a:r>
              <a:rPr sz="1700" b="0" i="0">
                <a:solidFill>
                  <a:srgbClr val="5D7C90"/>
                </a:solidFill>
                <a:latin typeface="Calibri"/>
              </a:rPr>
              <a:t>Prije rupe crta je ispod sredine letve (mali |lineCenter|).</a:t>
            </a:r>
          </a:p>
          <a:p>
            <a:pPr>
              <a:lnSpc>
                <a:spcPct val="108000"/>
              </a:lnSpc>
              <a:spcAft>
                <a:spcPts val="594"/>
              </a:spcAft>
            </a:pPr>
            <a:r>
              <a:rPr sz="1700" b="0" i="0">
                <a:solidFill>
                  <a:srgbClr val="5D7C90"/>
                </a:solidFill>
                <a:latin typeface="Calibri"/>
              </a:rPr>
              <a:t>Kod oštrog zavoja crta izađe preko ruba (veliki |lineCenter|), pa robot odmah traži okretom na tu stranu.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TQ_pod1"/>
          <p:cNvSpPr txBox="1"/>
          <p:nvPr/>
        </p:nvSpPr>
        <p:spPr>
          <a:xfrm>
            <a:off x="457200" y="6355080"/>
            <a:ext cx="2286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0394A"/>
                </a:solidFill>
                <a:latin typeface="Calibri"/>
              </a:rPr>
              <a:t>FORTRONIQ</a:t>
            </a:r>
          </a:p>
        </p:txBody>
      </p:sp>
      <p:sp>
        <p:nvSpPr>
          <p:cNvPr id="3" name="FTQ_pod2"/>
          <p:cNvSpPr txBox="1"/>
          <p:nvPr/>
        </p:nvSpPr>
        <p:spPr>
          <a:xfrm>
            <a:off x="2926080" y="6355080"/>
            <a:ext cx="5486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© ForTroniQ d.o.o. — Sva prava pridržana</a:t>
            </a:r>
          </a:p>
        </p:txBody>
      </p:sp>
      <p:sp>
        <p:nvSpPr>
          <p:cNvPr id="4" name="FTQ_pod3"/>
          <p:cNvSpPr txBox="1"/>
          <p:nvPr/>
        </p:nvSpPr>
        <p:spPr>
          <a:xfrm>
            <a:off x="8074152" y="6355080"/>
            <a:ext cx="3657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Rescue Line · Tema 1: praćenje crte</a:t>
            </a:r>
          </a:p>
        </p:txBody>
      </p:sp>
      <p:sp>
        <p:nvSpPr>
          <p:cNvPr id="5" name="FTQ_nad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17656E"/>
                </a:solidFill>
                <a:latin typeface="Calibri"/>
              </a:rPr>
              <a:t>KOSINA · KORAK 14/20 · 53:00</a:t>
            </a:r>
          </a:p>
        </p:txBody>
      </p:sp>
      <p:sp>
        <p:nvSpPr>
          <p:cNvPr id="6" name="FTQ_naslov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 spc="-100">
                <a:solidFill>
                  <a:srgbClr val="10394A"/>
                </a:solidFill>
                <a:latin typeface="Calibri"/>
              </a:rPr>
              <a:t>Kosina i izbočina</a:t>
            </a:r>
          </a:p>
        </p:txBody>
      </p:sp>
      <p:sp>
        <p:nvSpPr>
          <p:cNvPr id="7" name="FTQ_ploca"/>
          <p:cNvSpPr/>
          <p:nvPr/>
        </p:nvSpPr>
        <p:spPr>
          <a:xfrm>
            <a:off x="411480" y="1280160"/>
            <a:ext cx="7040880" cy="4000500"/>
          </a:xfrm>
          <a:prstGeom prst="rect">
            <a:avLst/>
          </a:prstGeom>
          <a:solidFill>
            <a:srgbClr val="EEF5F6"/>
          </a:solidFill>
          <a:ln w="12700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FTQ_slika" descr="k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949439" cy="3909059"/>
          </a:xfrm>
          <a:prstGeom prst="rect">
            <a:avLst/>
          </a:prstGeom>
        </p:spPr>
      </p:pic>
      <p:sp>
        <p:nvSpPr>
          <p:cNvPr id="9" name="FTQ_oz"/>
          <p:cNvSpPr txBox="1"/>
          <p:nvPr/>
        </p:nvSpPr>
        <p:spPr>
          <a:xfrm>
            <a:off x="457200" y="5390388"/>
            <a:ext cx="69494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17656E"/>
                </a:solidFill>
                <a:latin typeface="Calibri"/>
              </a:rPr>
              <a:t>NA ZASLONU</a:t>
            </a:r>
          </a:p>
        </p:txBody>
      </p:sp>
      <p:sp>
        <p:nvSpPr>
          <p:cNvPr id="10" name="FTQ_klik"/>
          <p:cNvSpPr txBox="1"/>
          <p:nvPr/>
        </p:nvSpPr>
        <p:spPr>
          <a:xfrm>
            <a:off x="457200" y="5637276"/>
            <a:ext cx="69494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D7C90"/>
                </a:solidFill>
                <a:latin typeface="Calibri"/>
              </a:rPr>
              <a:t>Simulator: kosina U-T-D; ispis pitch(); izbočina B.</a:t>
            </a:r>
          </a:p>
        </p:txBody>
      </p:sp>
      <p:sp>
        <p:nvSpPr>
          <p:cNvPr id="11" name="ANIM_tekst"/>
          <p:cNvSpPr txBox="1"/>
          <p:nvPr/>
        </p:nvSpPr>
        <p:spPr>
          <a:xfrm>
            <a:off x="7726679" y="1325880"/>
            <a:ext cx="400781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Na kosini nam pomaže IMU: pitch daje nagib u stupnjevima.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Uzbrdo robotu treba više snage, pa brzinu množimo s 1,4.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Nizbrdo ga sila teže ubrzava, pa brzinu smanjujemo na 0,6 — inače preleti zavoj iza kosine.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Izbočina je visoka do jednog centimetra; kotači od 70 milimetara je prelaze bez posebnog programa, ali letva ne smije biti preniska.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TQ_pod1"/>
          <p:cNvSpPr txBox="1"/>
          <p:nvPr/>
        </p:nvSpPr>
        <p:spPr>
          <a:xfrm>
            <a:off x="457200" y="6355080"/>
            <a:ext cx="2286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0394A"/>
                </a:solidFill>
                <a:latin typeface="Calibri"/>
              </a:rPr>
              <a:t>FORTRONIQ</a:t>
            </a:r>
          </a:p>
        </p:txBody>
      </p:sp>
      <p:sp>
        <p:nvSpPr>
          <p:cNvPr id="3" name="FTQ_pod2"/>
          <p:cNvSpPr txBox="1"/>
          <p:nvPr/>
        </p:nvSpPr>
        <p:spPr>
          <a:xfrm>
            <a:off x="2926080" y="6355080"/>
            <a:ext cx="5486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© ForTroniQ d.o.o. — Sva prava pridržana</a:t>
            </a:r>
          </a:p>
        </p:txBody>
      </p:sp>
      <p:sp>
        <p:nvSpPr>
          <p:cNvPr id="4" name="FTQ_pod3"/>
          <p:cNvSpPr txBox="1"/>
          <p:nvPr/>
        </p:nvSpPr>
        <p:spPr>
          <a:xfrm>
            <a:off x="8074152" y="6355080"/>
            <a:ext cx="3657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Rescue Line · Tema 1: praćenje crte</a:t>
            </a:r>
          </a:p>
        </p:txBody>
      </p:sp>
      <p:sp>
        <p:nvSpPr>
          <p:cNvPr id="5" name="FTQ_nad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17656E"/>
                </a:solidFill>
                <a:latin typeface="Calibri"/>
              </a:rPr>
              <a:t>KOSINA · KORAK 14/20 · KVIZ T09</a:t>
            </a:r>
          </a:p>
        </p:txBody>
      </p:sp>
      <p:sp>
        <p:nvSpPr>
          <p:cNvPr id="6" name="FTQ_naslov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 spc="-100">
                <a:solidFill>
                  <a:srgbClr val="10394A"/>
                </a:solidFill>
                <a:latin typeface="Calibri"/>
              </a:rPr>
              <a:t>Kosina i izbočina</a:t>
            </a:r>
          </a:p>
        </p:txBody>
      </p:sp>
      <p:sp>
        <p:nvSpPr>
          <p:cNvPr id="7" name="FTQ_ploca"/>
          <p:cNvSpPr/>
          <p:nvPr/>
        </p:nvSpPr>
        <p:spPr>
          <a:xfrm>
            <a:off x="1463040" y="1325880"/>
            <a:ext cx="9235440" cy="4754880"/>
          </a:xfrm>
          <a:prstGeom prst="roundRect">
            <a:avLst>
              <a:gd name="adj" fmla="val 4000"/>
            </a:avLst>
          </a:prstGeom>
          <a:solidFill>
            <a:srgbClr val="EEF5F6"/>
          </a:solidFill>
          <a:ln w="12700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FTQ_qr" descr="qr_e2ac2ef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4480560"/>
            <a:ext cx="1371600" cy="1371600"/>
          </a:xfrm>
          <a:prstGeom prst="rect">
            <a:avLst/>
          </a:prstGeom>
        </p:spPr>
      </p:pic>
      <p:sp>
        <p:nvSpPr>
          <p:cNvPr id="9" name="FTQ_qrt"/>
          <p:cNvSpPr txBox="1"/>
          <p:nvPr/>
        </p:nvSpPr>
        <p:spPr>
          <a:xfrm>
            <a:off x="6675120" y="530352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D7C90"/>
                </a:solidFill>
                <a:latin typeface="Calibri"/>
              </a:rPr>
              <a:t>Na mobitelu: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D7C90"/>
                </a:solidFill>
                <a:latin typeface="Calibri"/>
              </a:rPr>
              <a:t>fortroniq.hr/kviz/rescue-line-t1</a:t>
            </a:r>
          </a:p>
        </p:txBody>
      </p:sp>
      <p:sp>
        <p:nvSpPr>
          <p:cNvPr id="10" name="ANIM_kviz"/>
          <p:cNvSpPr txBox="1"/>
          <p:nvPr/>
        </p:nvSpPr>
        <p:spPr>
          <a:xfrm>
            <a:off x="1737360" y="1554480"/>
            <a:ext cx="7132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2000" b="1" i="0">
                <a:solidFill>
                  <a:srgbClr val="10394A"/>
                </a:solidFill>
                <a:latin typeface="Calibri"/>
              </a:rPr>
              <a:t>Prema pravilima 2026. kosina smije imati najviše 25°. Koliko se podigne na jednoj pločici duljine 30 cm (u tlocrtu)?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2000" b="0" i="0">
                <a:solidFill>
                  <a:srgbClr val="5D7C90"/>
                </a:solidFill>
                <a:latin typeface="Calibri"/>
              </a:rPr>
              <a:t>Upišite broj u cm (decimalni zarez).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2000" b="1" i="0">
                <a:solidFill>
                  <a:srgbClr val="10394A"/>
                </a:solidFill>
                <a:latin typeface="Calibri"/>
              </a:rPr>
              <a:t>Točno: 14 cm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2000" b="0" i="0">
                <a:solidFill>
                  <a:srgbClr val="5D7C90"/>
                </a:solidFill>
                <a:latin typeface="Calibri"/>
              </a:rPr>
              <a:t>h = 30 · tan 25° = 30 · 0,466 ≈ 14,0 cm.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2000" b="0" i="0">
                <a:solidFill>
                  <a:srgbClr val="5D7C90"/>
                </a:solidFill>
                <a:latin typeface="Calibri"/>
              </a:rPr>
              <a:t>Naša staza ima 15°: h = 30 · tan 15° ≈ 8,0 cm.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TQ_pod1"/>
          <p:cNvSpPr txBox="1"/>
          <p:nvPr/>
        </p:nvSpPr>
        <p:spPr>
          <a:xfrm>
            <a:off x="457200" y="6355080"/>
            <a:ext cx="2286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0394A"/>
                </a:solidFill>
                <a:latin typeface="Calibri"/>
              </a:rPr>
              <a:t>FORTRONIQ</a:t>
            </a:r>
          </a:p>
        </p:txBody>
      </p:sp>
      <p:sp>
        <p:nvSpPr>
          <p:cNvPr id="3" name="FTQ_pod2"/>
          <p:cNvSpPr txBox="1"/>
          <p:nvPr/>
        </p:nvSpPr>
        <p:spPr>
          <a:xfrm>
            <a:off x="2926080" y="6355080"/>
            <a:ext cx="5486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© ForTroniQ d.o.o. — Sva prava pridržana</a:t>
            </a:r>
          </a:p>
        </p:txBody>
      </p:sp>
      <p:sp>
        <p:nvSpPr>
          <p:cNvPr id="4" name="FTQ_pod3"/>
          <p:cNvSpPr txBox="1"/>
          <p:nvPr/>
        </p:nvSpPr>
        <p:spPr>
          <a:xfrm>
            <a:off x="8074152" y="6355080"/>
            <a:ext cx="3657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Rescue Line · Tema 1: praćenje crte</a:t>
            </a:r>
          </a:p>
        </p:txBody>
      </p:sp>
      <p:sp>
        <p:nvSpPr>
          <p:cNvPr id="5" name="FTQ_nad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17656E"/>
                </a:solidFill>
                <a:latin typeface="Calibri"/>
              </a:rPr>
              <a:t>KOSINA · KORAK 14/20 · KVIZ T10</a:t>
            </a:r>
          </a:p>
        </p:txBody>
      </p:sp>
      <p:sp>
        <p:nvSpPr>
          <p:cNvPr id="6" name="FTQ_naslov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 spc="-100">
                <a:solidFill>
                  <a:srgbClr val="10394A"/>
                </a:solidFill>
                <a:latin typeface="Calibri"/>
              </a:rPr>
              <a:t>Kosina i izbočina</a:t>
            </a:r>
          </a:p>
        </p:txBody>
      </p:sp>
      <p:sp>
        <p:nvSpPr>
          <p:cNvPr id="7" name="FTQ_ploca"/>
          <p:cNvSpPr/>
          <p:nvPr/>
        </p:nvSpPr>
        <p:spPr>
          <a:xfrm>
            <a:off x="1463040" y="1325880"/>
            <a:ext cx="9235440" cy="4754880"/>
          </a:xfrm>
          <a:prstGeom prst="roundRect">
            <a:avLst>
              <a:gd name="adj" fmla="val 4000"/>
            </a:avLst>
          </a:prstGeom>
          <a:solidFill>
            <a:srgbClr val="EEF5F6"/>
          </a:solidFill>
          <a:ln w="12700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FTQ_qr" descr="qr_826ba71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4480560"/>
            <a:ext cx="1371600" cy="1371600"/>
          </a:xfrm>
          <a:prstGeom prst="rect">
            <a:avLst/>
          </a:prstGeom>
        </p:spPr>
      </p:pic>
      <p:sp>
        <p:nvSpPr>
          <p:cNvPr id="9" name="FTQ_qrt"/>
          <p:cNvSpPr txBox="1"/>
          <p:nvPr/>
        </p:nvSpPr>
        <p:spPr>
          <a:xfrm>
            <a:off x="6675120" y="530352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D7C90"/>
                </a:solidFill>
                <a:latin typeface="Calibri"/>
              </a:rPr>
              <a:t>Na mobitelu: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D7C90"/>
                </a:solidFill>
                <a:latin typeface="Calibri"/>
              </a:rPr>
              <a:t>fortroniq.hr/kviz/rescue-line-t1</a:t>
            </a:r>
          </a:p>
        </p:txBody>
      </p:sp>
      <p:sp>
        <p:nvSpPr>
          <p:cNvPr id="10" name="ANIM_kviz"/>
          <p:cNvSpPr txBox="1"/>
          <p:nvPr/>
        </p:nvSpPr>
        <p:spPr>
          <a:xfrm>
            <a:off x="1737360" y="1554480"/>
            <a:ext cx="7132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65"/>
              </a:spcAft>
            </a:pPr>
            <a:r>
              <a:rPr sz="1900" b="1" i="0">
                <a:solidFill>
                  <a:srgbClr val="10394A"/>
                </a:solidFill>
                <a:latin typeface="Calibri"/>
              </a:rPr>
              <a:t>Zašto robot na kosini nizbrdo smanjuje brzinu?</a:t>
            </a:r>
          </a:p>
          <a:p>
            <a:pPr>
              <a:lnSpc>
                <a:spcPct val="108000"/>
              </a:lnSpc>
              <a:spcAft>
                <a:spcPts val="665"/>
              </a:spcAft>
            </a:pPr>
            <a:r>
              <a:rPr sz="1900" b="0" i="0">
                <a:solidFill>
                  <a:srgbClr val="10394A"/>
                </a:solidFill>
                <a:latin typeface="Calibri"/>
              </a:rPr>
              <a:t>A)  jer ga sila teže dodatno ubrzava, pa bi preletio crtu ili zavoj</a:t>
            </a:r>
          </a:p>
          <a:p>
            <a:pPr>
              <a:lnSpc>
                <a:spcPct val="108000"/>
              </a:lnSpc>
              <a:spcAft>
                <a:spcPts val="665"/>
              </a:spcAft>
            </a:pPr>
            <a:r>
              <a:rPr sz="1900" b="0" i="0">
                <a:solidFill>
                  <a:srgbClr val="10394A"/>
                </a:solidFill>
                <a:latin typeface="Calibri"/>
              </a:rPr>
              <a:t>B)  jer lidar ne radi nizbrdo</a:t>
            </a:r>
          </a:p>
          <a:p>
            <a:pPr>
              <a:lnSpc>
                <a:spcPct val="108000"/>
              </a:lnSpc>
              <a:spcAft>
                <a:spcPts val="665"/>
              </a:spcAft>
            </a:pPr>
            <a:r>
              <a:rPr sz="1900" b="0" i="0">
                <a:solidFill>
                  <a:srgbClr val="10394A"/>
                </a:solidFill>
                <a:latin typeface="Calibri"/>
              </a:rPr>
              <a:t>C)  jer se letva tada ne kalibrira</a:t>
            </a:r>
          </a:p>
          <a:p>
            <a:pPr>
              <a:lnSpc>
                <a:spcPct val="108000"/>
              </a:lnSpc>
              <a:spcAft>
                <a:spcPts val="665"/>
              </a:spcAft>
            </a:pPr>
            <a:r>
              <a:rPr sz="1900" b="0" i="0">
                <a:solidFill>
                  <a:srgbClr val="10394A"/>
                </a:solidFill>
                <a:latin typeface="Calibri"/>
              </a:rPr>
              <a:t>D)  pravila to zahtijevaju</a:t>
            </a:r>
          </a:p>
          <a:p>
            <a:pPr>
              <a:lnSpc>
                <a:spcPct val="108000"/>
              </a:lnSpc>
              <a:spcAft>
                <a:spcPts val="665"/>
              </a:spcAft>
            </a:pPr>
            <a:r>
              <a:rPr sz="1900" b="1" i="0">
                <a:solidFill>
                  <a:srgbClr val="10394A"/>
                </a:solidFill>
                <a:latin typeface="Calibri"/>
              </a:rPr>
              <a:t>Točno: A) jer ga sila teže dodatno ubrzava, pa bi preletio crtu ili zavoj</a:t>
            </a:r>
          </a:p>
          <a:p>
            <a:pPr>
              <a:lnSpc>
                <a:spcPct val="108000"/>
              </a:lnSpc>
              <a:spcAft>
                <a:spcPts val="665"/>
              </a:spcAft>
            </a:pPr>
            <a:r>
              <a:rPr sz="1900" b="0" i="0">
                <a:solidFill>
                  <a:srgbClr val="5D7C90"/>
                </a:solidFill>
                <a:latin typeface="Calibri"/>
              </a:rPr>
              <a:t>Nizbrdo se uz motore pridružuje i komponenta težine.</a:t>
            </a:r>
          </a:p>
          <a:p>
            <a:pPr>
              <a:lnSpc>
                <a:spcPct val="108000"/>
              </a:lnSpc>
              <a:spcAft>
                <a:spcPts val="665"/>
              </a:spcAft>
            </a:pPr>
            <a:r>
              <a:rPr sz="1900" b="0" i="0">
                <a:solidFill>
                  <a:srgbClr val="5D7C90"/>
                </a:solidFill>
                <a:latin typeface="Calibri"/>
              </a:rPr>
              <a:t>Program po pitch() prepoznaje kosinu: nizbrdo BRZINA · 0,6, uzbrdo · 1,4.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TQ_pod1"/>
          <p:cNvSpPr txBox="1"/>
          <p:nvPr/>
        </p:nvSpPr>
        <p:spPr>
          <a:xfrm>
            <a:off x="457200" y="6355080"/>
            <a:ext cx="2286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0394A"/>
                </a:solidFill>
                <a:latin typeface="Calibri"/>
              </a:rPr>
              <a:t>FORTRONIQ</a:t>
            </a:r>
          </a:p>
        </p:txBody>
      </p:sp>
      <p:sp>
        <p:nvSpPr>
          <p:cNvPr id="3" name="FTQ_pod2"/>
          <p:cNvSpPr txBox="1"/>
          <p:nvPr/>
        </p:nvSpPr>
        <p:spPr>
          <a:xfrm>
            <a:off x="2926080" y="6355080"/>
            <a:ext cx="5486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© ForTroniQ d.o.o. — Sva prava pridržana</a:t>
            </a:r>
          </a:p>
        </p:txBody>
      </p:sp>
      <p:sp>
        <p:nvSpPr>
          <p:cNvPr id="4" name="FTQ_pod3"/>
          <p:cNvSpPr txBox="1"/>
          <p:nvPr/>
        </p:nvSpPr>
        <p:spPr>
          <a:xfrm>
            <a:off x="8074152" y="6355080"/>
            <a:ext cx="3657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Rescue Line · Tema 1: praćenje crte</a:t>
            </a:r>
          </a:p>
        </p:txBody>
      </p:sp>
      <p:sp>
        <p:nvSpPr>
          <p:cNvPr id="5" name="FTQ_nad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17656E"/>
                </a:solidFill>
                <a:latin typeface="Calibri"/>
              </a:rPr>
              <a:t>PREPREKA · KORAK 15/20 · 58:00</a:t>
            </a:r>
          </a:p>
        </p:txBody>
      </p:sp>
      <p:sp>
        <p:nvSpPr>
          <p:cNvPr id="6" name="FTQ_naslov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 spc="-100">
                <a:solidFill>
                  <a:srgbClr val="10394A"/>
                </a:solidFill>
                <a:latin typeface="Calibri"/>
              </a:rPr>
              <a:t>Prepreka: lidar i obilazak</a:t>
            </a:r>
          </a:p>
        </p:txBody>
      </p:sp>
      <p:sp>
        <p:nvSpPr>
          <p:cNvPr id="7" name="FTQ_ploca"/>
          <p:cNvSpPr/>
          <p:nvPr/>
        </p:nvSpPr>
        <p:spPr>
          <a:xfrm>
            <a:off x="411480" y="1280160"/>
            <a:ext cx="7040880" cy="4000500"/>
          </a:xfrm>
          <a:prstGeom prst="rect">
            <a:avLst/>
          </a:prstGeom>
          <a:solidFill>
            <a:srgbClr val="EEF5F6"/>
          </a:solidFill>
          <a:ln w="12700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FTQ_slika" descr="k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949439" cy="3909059"/>
          </a:xfrm>
          <a:prstGeom prst="rect">
            <a:avLst/>
          </a:prstGeom>
        </p:spPr>
      </p:pic>
      <p:sp>
        <p:nvSpPr>
          <p:cNvPr id="9" name="FTQ_oz"/>
          <p:cNvSpPr txBox="1"/>
          <p:nvPr/>
        </p:nvSpPr>
        <p:spPr>
          <a:xfrm>
            <a:off x="457200" y="5390388"/>
            <a:ext cx="69494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17656E"/>
                </a:solidFill>
                <a:latin typeface="Calibri"/>
              </a:rPr>
              <a:t>NA ZASLONU</a:t>
            </a:r>
          </a:p>
        </p:txBody>
      </p:sp>
      <p:sp>
        <p:nvSpPr>
          <p:cNvPr id="10" name="FTQ_klik"/>
          <p:cNvSpPr txBox="1"/>
          <p:nvPr/>
        </p:nvSpPr>
        <p:spPr>
          <a:xfrm>
            <a:off x="457200" y="5637276"/>
            <a:ext cx="69494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D7C90"/>
                </a:solidFill>
                <a:latin typeface="Calibri"/>
              </a:rPr>
              <a:t>Simulator: pločica O; front() &lt; 90 mm; korak 1–4 obilaska.</a:t>
            </a:r>
          </a:p>
        </p:txBody>
      </p:sp>
      <p:sp>
        <p:nvSpPr>
          <p:cNvPr id="11" name="ANIM_tekst"/>
          <p:cNvSpPr txBox="1"/>
          <p:nvPr/>
        </p:nvSpPr>
        <p:spPr>
          <a:xfrm>
            <a:off x="7726679" y="1325880"/>
            <a:ext cx="400781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Prednji lidar mjeri udaljenost.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Kad je front manji od 90 milimetara, a robot je na ravnom, prelazi u stanje prepreka.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Obilazak ima četiri koraka: okret za 90 stupnjeva prema heading(), luk oko prepreke dok letva ne nađe crtu, malo naprijed da kotači dođu na crtu, pa okret natrag dok srednji senzor ne vidi crtu.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Postavka OBILAZAK bira stranu — slijeva ili zdesna, ovisno gdje ima mjesta.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TQ_pod1"/>
          <p:cNvSpPr txBox="1"/>
          <p:nvPr/>
        </p:nvSpPr>
        <p:spPr>
          <a:xfrm>
            <a:off x="457200" y="6355080"/>
            <a:ext cx="2286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0394A"/>
                </a:solidFill>
                <a:latin typeface="Calibri"/>
              </a:rPr>
              <a:t>FORTRONIQ</a:t>
            </a:r>
          </a:p>
        </p:txBody>
      </p:sp>
      <p:sp>
        <p:nvSpPr>
          <p:cNvPr id="3" name="FTQ_pod2"/>
          <p:cNvSpPr txBox="1"/>
          <p:nvPr/>
        </p:nvSpPr>
        <p:spPr>
          <a:xfrm>
            <a:off x="2926080" y="6355080"/>
            <a:ext cx="5486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© ForTroniQ d.o.o. — Sva prava pridržana</a:t>
            </a:r>
          </a:p>
        </p:txBody>
      </p:sp>
      <p:sp>
        <p:nvSpPr>
          <p:cNvPr id="4" name="FTQ_pod3"/>
          <p:cNvSpPr txBox="1"/>
          <p:nvPr/>
        </p:nvSpPr>
        <p:spPr>
          <a:xfrm>
            <a:off x="8074152" y="6355080"/>
            <a:ext cx="3657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Rescue Line · Tema 1: praćenje crte</a:t>
            </a:r>
          </a:p>
        </p:txBody>
      </p:sp>
      <p:sp>
        <p:nvSpPr>
          <p:cNvPr id="5" name="FTQ_nad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17656E"/>
                </a:solidFill>
                <a:latin typeface="Calibri"/>
              </a:rPr>
              <a:t>PREPREKA · KORAK 15/20 · KVIZ T11</a:t>
            </a:r>
          </a:p>
        </p:txBody>
      </p:sp>
      <p:sp>
        <p:nvSpPr>
          <p:cNvPr id="6" name="FTQ_naslov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 spc="-100">
                <a:solidFill>
                  <a:srgbClr val="10394A"/>
                </a:solidFill>
                <a:latin typeface="Calibri"/>
              </a:rPr>
              <a:t>Prepreka: lidar i obilazak</a:t>
            </a:r>
          </a:p>
        </p:txBody>
      </p:sp>
      <p:sp>
        <p:nvSpPr>
          <p:cNvPr id="7" name="FTQ_ploca"/>
          <p:cNvSpPr/>
          <p:nvPr/>
        </p:nvSpPr>
        <p:spPr>
          <a:xfrm>
            <a:off x="1463040" y="1325880"/>
            <a:ext cx="9235440" cy="4754880"/>
          </a:xfrm>
          <a:prstGeom prst="roundRect">
            <a:avLst>
              <a:gd name="adj" fmla="val 4000"/>
            </a:avLst>
          </a:prstGeom>
          <a:solidFill>
            <a:srgbClr val="EEF5F6"/>
          </a:solidFill>
          <a:ln w="12700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FTQ_qr" descr="qr_f56c97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4480560"/>
            <a:ext cx="1371600" cy="1371600"/>
          </a:xfrm>
          <a:prstGeom prst="rect">
            <a:avLst/>
          </a:prstGeom>
        </p:spPr>
      </p:pic>
      <p:sp>
        <p:nvSpPr>
          <p:cNvPr id="9" name="FTQ_qrt"/>
          <p:cNvSpPr txBox="1"/>
          <p:nvPr/>
        </p:nvSpPr>
        <p:spPr>
          <a:xfrm>
            <a:off x="6675120" y="530352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D7C90"/>
                </a:solidFill>
                <a:latin typeface="Calibri"/>
              </a:rPr>
              <a:t>Na mobitelu: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D7C90"/>
                </a:solidFill>
                <a:latin typeface="Calibri"/>
              </a:rPr>
              <a:t>fortroniq.hr/kviz/rescue-line-t1</a:t>
            </a:r>
          </a:p>
        </p:txBody>
      </p:sp>
      <p:sp>
        <p:nvSpPr>
          <p:cNvPr id="10" name="ANIM_kviz"/>
          <p:cNvSpPr txBox="1"/>
          <p:nvPr/>
        </p:nvSpPr>
        <p:spPr>
          <a:xfrm>
            <a:off x="1737360" y="1554480"/>
            <a:ext cx="7132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2000" b="1" i="0">
                <a:solidFill>
                  <a:srgbClr val="10394A"/>
                </a:solidFill>
                <a:latin typeface="Calibri"/>
              </a:rPr>
              <a:t>Kolika je najmanja visina prepreke prema pravilima Rescue Line 2026. (cm)?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2000" b="0" i="0">
                <a:solidFill>
                  <a:srgbClr val="5D7C90"/>
                </a:solidFill>
                <a:latin typeface="Calibri"/>
              </a:rPr>
              <a:t>Upišite broj u cm (decimalni zarez).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2000" b="1" i="0">
                <a:solidFill>
                  <a:srgbClr val="10394A"/>
                </a:solidFill>
                <a:latin typeface="Calibri"/>
              </a:rPr>
              <a:t>Točno: 15 cm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2000" b="0" i="0">
                <a:solidFill>
                  <a:srgbClr val="5D7C90"/>
                </a:solidFill>
                <a:latin typeface="Calibri"/>
              </a:rPr>
              <a:t>Prepreka je visoka najmanje 15 cm (pravilo 3.5.4), pa je lidar sprijeda sigurno vidi.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TQ_pod1"/>
          <p:cNvSpPr txBox="1"/>
          <p:nvPr/>
        </p:nvSpPr>
        <p:spPr>
          <a:xfrm>
            <a:off x="457200" y="6355080"/>
            <a:ext cx="2286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0394A"/>
                </a:solidFill>
                <a:latin typeface="Calibri"/>
              </a:rPr>
              <a:t>FORTRONIQ</a:t>
            </a:r>
          </a:p>
        </p:txBody>
      </p:sp>
      <p:sp>
        <p:nvSpPr>
          <p:cNvPr id="3" name="FTQ_pod2"/>
          <p:cNvSpPr txBox="1"/>
          <p:nvPr/>
        </p:nvSpPr>
        <p:spPr>
          <a:xfrm>
            <a:off x="2926080" y="6355080"/>
            <a:ext cx="5486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© ForTroniQ d.o.o. — Sva prava pridržana</a:t>
            </a:r>
          </a:p>
        </p:txBody>
      </p:sp>
      <p:sp>
        <p:nvSpPr>
          <p:cNvPr id="4" name="FTQ_pod3"/>
          <p:cNvSpPr txBox="1"/>
          <p:nvPr/>
        </p:nvSpPr>
        <p:spPr>
          <a:xfrm>
            <a:off x="8074152" y="6355080"/>
            <a:ext cx="3657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Rescue Line · Tema 1: praćenje crte</a:t>
            </a:r>
          </a:p>
        </p:txBody>
      </p:sp>
      <p:sp>
        <p:nvSpPr>
          <p:cNvPr id="5" name="FTQ_nad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17656E"/>
                </a:solidFill>
                <a:latin typeface="Calibri"/>
              </a:rPr>
              <a:t>SVOJA STAZA · KORAK 16/20 · 64:00</a:t>
            </a:r>
          </a:p>
        </p:txBody>
      </p:sp>
      <p:sp>
        <p:nvSpPr>
          <p:cNvPr id="6" name="FTQ_naslov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 spc="-100">
                <a:solidFill>
                  <a:srgbClr val="10394A"/>
                </a:solidFill>
                <a:latin typeface="Calibri"/>
              </a:rPr>
              <a:t>Svoja staza iz karte</a:t>
            </a:r>
          </a:p>
        </p:txBody>
      </p:sp>
      <p:sp>
        <p:nvSpPr>
          <p:cNvPr id="7" name="FTQ_ploca"/>
          <p:cNvSpPr/>
          <p:nvPr/>
        </p:nvSpPr>
        <p:spPr>
          <a:xfrm>
            <a:off x="411480" y="1280160"/>
            <a:ext cx="7040880" cy="4000500"/>
          </a:xfrm>
          <a:prstGeom prst="rect">
            <a:avLst/>
          </a:prstGeom>
          <a:solidFill>
            <a:srgbClr val="EEF5F6"/>
          </a:solidFill>
          <a:ln w="12700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FTQ_slika" descr="k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949439" cy="3909059"/>
          </a:xfrm>
          <a:prstGeom prst="rect">
            <a:avLst/>
          </a:prstGeom>
        </p:spPr>
      </p:pic>
      <p:sp>
        <p:nvSpPr>
          <p:cNvPr id="9" name="FTQ_oz"/>
          <p:cNvSpPr txBox="1"/>
          <p:nvPr/>
        </p:nvSpPr>
        <p:spPr>
          <a:xfrm>
            <a:off x="457200" y="5390388"/>
            <a:ext cx="69494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17656E"/>
                </a:solidFill>
                <a:latin typeface="Calibri"/>
              </a:rPr>
              <a:t>NA ZASLONU</a:t>
            </a:r>
          </a:p>
        </p:txBody>
      </p:sp>
      <p:sp>
        <p:nvSpPr>
          <p:cNvPr id="10" name="FTQ_klik"/>
          <p:cNvSpPr txBox="1"/>
          <p:nvPr/>
        </p:nvSpPr>
        <p:spPr>
          <a:xfrm>
            <a:off x="457200" y="5637276"/>
            <a:ext cx="69494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D7C90"/>
                </a:solidFill>
                <a:latin typeface="Calibri"/>
              </a:rPr>
              <a:t>Graditelj: KARTA = 'S U T D S S R R S G S O S B R R'; promjena karte i ponovna gradnja.</a:t>
            </a:r>
          </a:p>
        </p:txBody>
      </p:sp>
      <p:sp>
        <p:nvSpPr>
          <p:cNvPr id="11" name="ANIM_tekst"/>
          <p:cNvSpPr txBox="1"/>
          <p:nvPr/>
        </p:nvSpPr>
        <p:spPr>
          <a:xfrm>
            <a:off x="7726679" y="1325880"/>
            <a:ext cx="400781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Stazu ne crtate ručno.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U graditelju je karta: niz slova, svako je jedna pločica.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S ravno, L i R zavoji, G rupa, O prepreka, B izbočina, U, T i D kosina, C cilj.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Promijenite kartu, pokrenete graditelj i dobijete novu scenu.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Tako možete složiti stazu kakvu očekujete na natjecanju.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TQ_pod1"/>
          <p:cNvSpPr txBox="1"/>
          <p:nvPr/>
        </p:nvSpPr>
        <p:spPr>
          <a:xfrm>
            <a:off x="457200" y="6355080"/>
            <a:ext cx="2286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0394A"/>
                </a:solidFill>
                <a:latin typeface="Calibri"/>
              </a:rPr>
              <a:t>FORTRONIQ</a:t>
            </a:r>
          </a:p>
        </p:txBody>
      </p:sp>
      <p:sp>
        <p:nvSpPr>
          <p:cNvPr id="3" name="FTQ_pod2"/>
          <p:cNvSpPr txBox="1"/>
          <p:nvPr/>
        </p:nvSpPr>
        <p:spPr>
          <a:xfrm>
            <a:off x="2926080" y="6355080"/>
            <a:ext cx="5486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© ForTroniQ d.o.o. — Sva prava pridržana</a:t>
            </a:r>
          </a:p>
        </p:txBody>
      </p:sp>
      <p:sp>
        <p:nvSpPr>
          <p:cNvPr id="4" name="FTQ_pod3"/>
          <p:cNvSpPr txBox="1"/>
          <p:nvPr/>
        </p:nvSpPr>
        <p:spPr>
          <a:xfrm>
            <a:off x="8074152" y="6355080"/>
            <a:ext cx="3657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Rescue Line · Tema 1: praćenje crte</a:t>
            </a:r>
          </a:p>
        </p:txBody>
      </p:sp>
      <p:sp>
        <p:nvSpPr>
          <p:cNvPr id="5" name="FTQ_nad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17656E"/>
                </a:solidFill>
                <a:latin typeface="Calibri"/>
              </a:rPr>
              <a:t>SVOJ ROBOT · KORAK 17/20 · 69:00</a:t>
            </a:r>
          </a:p>
        </p:txBody>
      </p:sp>
      <p:sp>
        <p:nvSpPr>
          <p:cNvPr id="6" name="FTQ_naslov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 spc="-100">
                <a:solidFill>
                  <a:srgbClr val="10394A"/>
                </a:solidFill>
                <a:latin typeface="Calibri"/>
              </a:rPr>
              <a:t>Svoj robot: mjere</a:t>
            </a:r>
          </a:p>
        </p:txBody>
      </p:sp>
      <p:sp>
        <p:nvSpPr>
          <p:cNvPr id="7" name="FTQ_ploca"/>
          <p:cNvSpPr/>
          <p:nvPr/>
        </p:nvSpPr>
        <p:spPr>
          <a:xfrm>
            <a:off x="411480" y="1280160"/>
            <a:ext cx="7040880" cy="4000500"/>
          </a:xfrm>
          <a:prstGeom prst="rect">
            <a:avLst/>
          </a:prstGeom>
          <a:solidFill>
            <a:srgbClr val="EEF5F6"/>
          </a:solidFill>
          <a:ln w="12700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FTQ_slika" descr="k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949439" cy="3909059"/>
          </a:xfrm>
          <a:prstGeom prst="rect">
            <a:avLst/>
          </a:prstGeom>
        </p:spPr>
      </p:pic>
      <p:sp>
        <p:nvSpPr>
          <p:cNvPr id="9" name="FTQ_oz"/>
          <p:cNvSpPr txBox="1"/>
          <p:nvPr/>
        </p:nvSpPr>
        <p:spPr>
          <a:xfrm>
            <a:off x="457200" y="5390388"/>
            <a:ext cx="69494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17656E"/>
                </a:solidFill>
                <a:latin typeface="Calibri"/>
              </a:rPr>
              <a:t>NA ZASLONU</a:t>
            </a:r>
          </a:p>
        </p:txBody>
      </p:sp>
      <p:sp>
        <p:nvSpPr>
          <p:cNvPr id="10" name="FTQ_klik"/>
          <p:cNvSpPr txBox="1"/>
          <p:nvPr/>
        </p:nvSpPr>
        <p:spPr>
          <a:xfrm>
            <a:off x="457200" y="5637276"/>
            <a:ext cx="69494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D7C90"/>
                </a:solidFill>
                <a:latin typeface="Calibri"/>
              </a:rPr>
              <a:t>Graditelj: tablica ROBOT (kotači, razmak, letva, lidari).</a:t>
            </a:r>
          </a:p>
        </p:txBody>
      </p:sp>
      <p:sp>
        <p:nvSpPr>
          <p:cNvPr id="11" name="ANIM_tekst"/>
          <p:cNvSpPr txBox="1"/>
          <p:nvPr/>
        </p:nvSpPr>
        <p:spPr>
          <a:xfrm>
            <a:off x="7726679" y="1325880"/>
            <a:ext cx="400781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I robot se gradi iz tablice mjera: polumjer kotača, razmak kotača, gdje je letva i koliko je visoko, gdje su lidari.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Kad izmjerite svog robota, upišite mjere i simulator će se ponašati sličnije.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Najvažnije su visina letve, njezin razmak od osovine i razmak kotača.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TQ_pod1"/>
          <p:cNvSpPr txBox="1"/>
          <p:nvPr/>
        </p:nvSpPr>
        <p:spPr>
          <a:xfrm>
            <a:off x="457200" y="6355080"/>
            <a:ext cx="2286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0394A"/>
                </a:solidFill>
                <a:latin typeface="Calibri"/>
              </a:rPr>
              <a:t>FORTRONIQ</a:t>
            </a:r>
          </a:p>
        </p:txBody>
      </p:sp>
      <p:sp>
        <p:nvSpPr>
          <p:cNvPr id="3" name="FTQ_pod2"/>
          <p:cNvSpPr txBox="1"/>
          <p:nvPr/>
        </p:nvSpPr>
        <p:spPr>
          <a:xfrm>
            <a:off x="2926080" y="6355080"/>
            <a:ext cx="5486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© ForTroniQ d.o.o. — Sva prava pridržana</a:t>
            </a:r>
          </a:p>
        </p:txBody>
      </p:sp>
      <p:sp>
        <p:nvSpPr>
          <p:cNvPr id="4" name="FTQ_pod3"/>
          <p:cNvSpPr txBox="1"/>
          <p:nvPr/>
        </p:nvSpPr>
        <p:spPr>
          <a:xfrm>
            <a:off x="8074152" y="6355080"/>
            <a:ext cx="3657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Rescue Line · Tema 1: praćenje crte</a:t>
            </a:r>
          </a:p>
        </p:txBody>
      </p:sp>
      <p:sp>
        <p:nvSpPr>
          <p:cNvPr id="5" name="FTQ_nad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17656E"/>
                </a:solidFill>
                <a:latin typeface="Calibri"/>
              </a:rPr>
              <a:t>NA ROBOTA · KORAK 18/20 · 73:00</a:t>
            </a:r>
          </a:p>
        </p:txBody>
      </p:sp>
      <p:sp>
        <p:nvSpPr>
          <p:cNvPr id="6" name="FTQ_naslov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 spc="-100">
                <a:solidFill>
                  <a:srgbClr val="10394A"/>
                </a:solidFill>
                <a:latin typeface="Calibri"/>
              </a:rPr>
              <a:t>Iz simulatora na robota</a:t>
            </a:r>
          </a:p>
        </p:txBody>
      </p:sp>
      <p:sp>
        <p:nvSpPr>
          <p:cNvPr id="7" name="FTQ_ploca"/>
          <p:cNvSpPr/>
          <p:nvPr/>
        </p:nvSpPr>
        <p:spPr>
          <a:xfrm>
            <a:off x="411480" y="1280160"/>
            <a:ext cx="7040880" cy="4000500"/>
          </a:xfrm>
          <a:prstGeom prst="rect">
            <a:avLst/>
          </a:prstGeom>
          <a:solidFill>
            <a:srgbClr val="EEF5F6"/>
          </a:solidFill>
          <a:ln w="12700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FTQ_slika" descr="k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949439" cy="3909059"/>
          </a:xfrm>
          <a:prstGeom prst="rect">
            <a:avLst/>
          </a:prstGeom>
        </p:spPr>
      </p:pic>
      <p:sp>
        <p:nvSpPr>
          <p:cNvPr id="9" name="FTQ_oz"/>
          <p:cNvSpPr txBox="1"/>
          <p:nvPr/>
        </p:nvSpPr>
        <p:spPr>
          <a:xfrm>
            <a:off x="457200" y="5390388"/>
            <a:ext cx="69494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17656E"/>
                </a:solidFill>
                <a:latin typeface="Calibri"/>
              </a:rPr>
              <a:t>NA ZASLONU</a:t>
            </a:r>
          </a:p>
        </p:txBody>
      </p:sp>
      <p:sp>
        <p:nvSpPr>
          <p:cNvPr id="10" name="FTQ_klik"/>
          <p:cNvSpPr txBox="1"/>
          <p:nvPr/>
        </p:nvSpPr>
        <p:spPr>
          <a:xfrm>
            <a:off x="457200" y="5637276"/>
            <a:ext cx="69494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D7C90"/>
                </a:solidFill>
                <a:latin typeface="Calibri"/>
              </a:rPr>
              <a:t>Slajd: tablica Lua ↔ C++; datoteka lineFollow_tema1_v01.cpp; naredbe cal, pri, lnf, x.</a:t>
            </a:r>
          </a:p>
        </p:txBody>
      </p:sp>
      <p:sp>
        <p:nvSpPr>
          <p:cNvPr id="11" name="ANIM_tekst"/>
          <p:cNvSpPr txBox="1"/>
          <p:nvPr/>
        </p:nvSpPr>
        <p:spPr>
          <a:xfrm>
            <a:off x="7726679" y="1325880"/>
            <a:ext cx="400781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Prijenos na robota: otvorite mrm-robot-line.cpp i tijelo funkcije lineFollow zamijenite našim kodom.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To je isti algoritam, samo u C++: local postaje float, and postaje dvostruki ampersand, end postaje vitičasta zagrada, a stanja su enum.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Postavke prepišete iz simulatora.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Na robotu: cal za kalibraciju, pri za provjeru, lnf za vožnju, x za stop.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Krenite od manje brzine — motori, trenje i baterija nisu kao u simulatoru.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TQ_pod1"/>
          <p:cNvSpPr txBox="1"/>
          <p:nvPr/>
        </p:nvSpPr>
        <p:spPr>
          <a:xfrm>
            <a:off x="457200" y="6355080"/>
            <a:ext cx="2286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0394A"/>
                </a:solidFill>
                <a:latin typeface="Calibri"/>
              </a:rPr>
              <a:t>FORTRONIQ</a:t>
            </a:r>
          </a:p>
        </p:txBody>
      </p:sp>
      <p:sp>
        <p:nvSpPr>
          <p:cNvPr id="3" name="FTQ_pod2"/>
          <p:cNvSpPr txBox="1"/>
          <p:nvPr/>
        </p:nvSpPr>
        <p:spPr>
          <a:xfrm>
            <a:off x="2926080" y="6355080"/>
            <a:ext cx="5486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© ForTroniQ d.o.o. — Sva prava pridržana</a:t>
            </a:r>
          </a:p>
        </p:txBody>
      </p:sp>
      <p:sp>
        <p:nvSpPr>
          <p:cNvPr id="4" name="FTQ_pod3"/>
          <p:cNvSpPr txBox="1"/>
          <p:nvPr/>
        </p:nvSpPr>
        <p:spPr>
          <a:xfrm>
            <a:off x="8074152" y="6355080"/>
            <a:ext cx="3657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Rescue Line · Tema 1: praćenje crte</a:t>
            </a:r>
          </a:p>
        </p:txBody>
      </p:sp>
      <p:sp>
        <p:nvSpPr>
          <p:cNvPr id="5" name="FTQ_nad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17656E"/>
                </a:solidFill>
                <a:latin typeface="Calibri"/>
              </a:rPr>
              <a:t>NA ROBOTA · KORAK 18/20 · KVIZ T12</a:t>
            </a:r>
          </a:p>
        </p:txBody>
      </p:sp>
      <p:sp>
        <p:nvSpPr>
          <p:cNvPr id="6" name="FTQ_naslov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 spc="-100">
                <a:solidFill>
                  <a:srgbClr val="10394A"/>
                </a:solidFill>
                <a:latin typeface="Calibri"/>
              </a:rPr>
              <a:t>Iz simulatora na robota</a:t>
            </a:r>
          </a:p>
        </p:txBody>
      </p:sp>
      <p:sp>
        <p:nvSpPr>
          <p:cNvPr id="7" name="FTQ_ploca"/>
          <p:cNvSpPr/>
          <p:nvPr/>
        </p:nvSpPr>
        <p:spPr>
          <a:xfrm>
            <a:off x="1463040" y="1325880"/>
            <a:ext cx="9235440" cy="4754880"/>
          </a:xfrm>
          <a:prstGeom prst="roundRect">
            <a:avLst>
              <a:gd name="adj" fmla="val 4000"/>
            </a:avLst>
          </a:prstGeom>
          <a:solidFill>
            <a:srgbClr val="EEF5F6"/>
          </a:solidFill>
          <a:ln w="12700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FTQ_qr" descr="qr_6c65c6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4480560"/>
            <a:ext cx="1371600" cy="1371600"/>
          </a:xfrm>
          <a:prstGeom prst="rect">
            <a:avLst/>
          </a:prstGeom>
        </p:spPr>
      </p:pic>
      <p:sp>
        <p:nvSpPr>
          <p:cNvPr id="9" name="FTQ_qrt"/>
          <p:cNvSpPr txBox="1"/>
          <p:nvPr/>
        </p:nvSpPr>
        <p:spPr>
          <a:xfrm>
            <a:off x="6675120" y="530352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D7C90"/>
                </a:solidFill>
                <a:latin typeface="Calibri"/>
              </a:rPr>
              <a:t>Na mobitelu: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D7C90"/>
                </a:solidFill>
                <a:latin typeface="Calibri"/>
              </a:rPr>
              <a:t>fortroniq.hr/kviz/rescue-line-t1</a:t>
            </a:r>
          </a:p>
        </p:txBody>
      </p:sp>
      <p:sp>
        <p:nvSpPr>
          <p:cNvPr id="10" name="ANIM_kviz"/>
          <p:cNvSpPr txBox="1"/>
          <p:nvPr/>
        </p:nvSpPr>
        <p:spPr>
          <a:xfrm>
            <a:off x="1737360" y="1554480"/>
            <a:ext cx="7132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94"/>
              </a:spcAft>
            </a:pPr>
            <a:r>
              <a:rPr sz="1700" b="1" i="0">
                <a:solidFill>
                  <a:srgbClr val="10394A"/>
                </a:solidFill>
                <a:latin typeface="Calibri"/>
              </a:rPr>
              <a:t>Kako se program iz simulatora prenosi na Microline robota?</a:t>
            </a:r>
          </a:p>
          <a:p>
            <a:pPr>
              <a:lnSpc>
                <a:spcPct val="108000"/>
              </a:lnSpc>
              <a:spcAft>
                <a:spcPts val="594"/>
              </a:spcAft>
            </a:pPr>
            <a:r>
              <a:rPr sz="1700" b="0" i="0">
                <a:solidFill>
                  <a:srgbClr val="10394A"/>
                </a:solidFill>
                <a:latin typeface="Calibri"/>
              </a:rPr>
              <a:t>A)  iste funkcije (go, line, lineCenter, front, pitch) prepišu se u RobotLine::lineFollow() u C++</a:t>
            </a:r>
          </a:p>
          <a:p>
            <a:pPr>
              <a:lnSpc>
                <a:spcPct val="108000"/>
              </a:lnSpc>
              <a:spcAft>
                <a:spcPts val="594"/>
              </a:spcAft>
            </a:pPr>
            <a:r>
              <a:rPr sz="1700" b="0" i="0">
                <a:solidFill>
                  <a:srgbClr val="10394A"/>
                </a:solidFill>
                <a:latin typeface="Calibri"/>
              </a:rPr>
              <a:t>B)  scena .ttt se učita na ESP32</a:t>
            </a:r>
          </a:p>
          <a:p>
            <a:pPr>
              <a:lnSpc>
                <a:spcPct val="108000"/>
              </a:lnSpc>
              <a:spcAft>
                <a:spcPts val="594"/>
              </a:spcAft>
            </a:pPr>
            <a:r>
              <a:rPr sz="1700" b="0" i="0">
                <a:solidFill>
                  <a:srgbClr val="10394A"/>
                </a:solidFill>
                <a:latin typeface="Calibri"/>
              </a:rPr>
              <a:t>C)  nikako, simulator koristi drugi algoritam</a:t>
            </a:r>
          </a:p>
          <a:p>
            <a:pPr>
              <a:lnSpc>
                <a:spcPct val="108000"/>
              </a:lnSpc>
              <a:spcAft>
                <a:spcPts val="594"/>
              </a:spcAft>
            </a:pPr>
            <a:r>
              <a:rPr sz="1700" b="0" i="0">
                <a:solidFill>
                  <a:srgbClr val="10394A"/>
                </a:solidFill>
                <a:latin typeface="Calibri"/>
              </a:rPr>
              <a:t>D)  preko Bluetootha se šalje Lua skripta</a:t>
            </a:r>
          </a:p>
          <a:p>
            <a:pPr>
              <a:lnSpc>
                <a:spcPct val="108000"/>
              </a:lnSpc>
              <a:spcAft>
                <a:spcPts val="594"/>
              </a:spcAft>
            </a:pPr>
            <a:r>
              <a:rPr sz="1700" b="1" i="0">
                <a:solidFill>
                  <a:srgbClr val="10394A"/>
                </a:solidFill>
                <a:latin typeface="Calibri"/>
              </a:rPr>
              <a:t>Točno: A) iste funkcije (go, line, lineCenter, front, pitch) prepišu se u RobotLine::lineFollow() u C++</a:t>
            </a:r>
          </a:p>
          <a:p>
            <a:pPr>
              <a:lnSpc>
                <a:spcPct val="108000"/>
              </a:lnSpc>
              <a:spcAft>
                <a:spcPts val="594"/>
              </a:spcAft>
            </a:pPr>
            <a:r>
              <a:rPr sz="1700" b="0" i="0">
                <a:solidFill>
                  <a:srgbClr val="5D7C90"/>
                </a:solidFill>
                <a:latin typeface="Calibri"/>
              </a:rPr>
              <a:t>Simulator ima funkcije istih imena, jedinica i predznaka kao knjižnica mrm-robot.</a:t>
            </a:r>
          </a:p>
          <a:p>
            <a:pPr>
              <a:lnSpc>
                <a:spcPct val="108000"/>
              </a:lnSpc>
              <a:spcAft>
                <a:spcPts val="594"/>
              </a:spcAft>
            </a:pPr>
            <a:r>
              <a:rPr sz="1700" b="0" i="0">
                <a:solidFill>
                  <a:srgbClr val="5D7C90"/>
                </a:solidFill>
                <a:latin typeface="Calibri"/>
              </a:rPr>
              <a:t>Logika se zato prepisuje gotovo red po red, a postavke (KP, KD, BRZINA…) se samo prenesu.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TQ_pod1"/>
          <p:cNvSpPr txBox="1"/>
          <p:nvPr/>
        </p:nvSpPr>
        <p:spPr>
          <a:xfrm>
            <a:off x="457200" y="6355080"/>
            <a:ext cx="2286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0394A"/>
                </a:solidFill>
                <a:latin typeface="Calibri"/>
              </a:rPr>
              <a:t>FORTRONIQ</a:t>
            </a:r>
          </a:p>
        </p:txBody>
      </p:sp>
      <p:sp>
        <p:nvSpPr>
          <p:cNvPr id="3" name="FTQ_pod2"/>
          <p:cNvSpPr txBox="1"/>
          <p:nvPr/>
        </p:nvSpPr>
        <p:spPr>
          <a:xfrm>
            <a:off x="2926080" y="6355080"/>
            <a:ext cx="5486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© ForTroniQ d.o.o. — Sva prava pridržana</a:t>
            </a:r>
          </a:p>
        </p:txBody>
      </p:sp>
      <p:sp>
        <p:nvSpPr>
          <p:cNvPr id="4" name="FTQ_pod3"/>
          <p:cNvSpPr txBox="1"/>
          <p:nvPr/>
        </p:nvSpPr>
        <p:spPr>
          <a:xfrm>
            <a:off x="8074152" y="6355080"/>
            <a:ext cx="3657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Rescue Line · Tema 1: praćenje crte</a:t>
            </a:r>
          </a:p>
        </p:txBody>
      </p:sp>
      <p:sp>
        <p:nvSpPr>
          <p:cNvPr id="5" name="FTQ_nad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17656E"/>
                </a:solidFill>
                <a:latin typeface="Calibri"/>
              </a:rPr>
              <a:t>ZADATAK · KORAK 19/20 · 81:00</a:t>
            </a:r>
          </a:p>
        </p:txBody>
      </p:sp>
      <p:sp>
        <p:nvSpPr>
          <p:cNvPr id="6" name="FTQ_naslov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 spc="-100">
                <a:solidFill>
                  <a:srgbClr val="10394A"/>
                </a:solidFill>
                <a:latin typeface="Calibri"/>
              </a:rPr>
              <a:t>Zadatak i kviz</a:t>
            </a:r>
          </a:p>
        </p:txBody>
      </p:sp>
      <p:sp>
        <p:nvSpPr>
          <p:cNvPr id="7" name="FTQ_ploca"/>
          <p:cNvSpPr/>
          <p:nvPr/>
        </p:nvSpPr>
        <p:spPr>
          <a:xfrm>
            <a:off x="411480" y="1280160"/>
            <a:ext cx="7040880" cy="4000500"/>
          </a:xfrm>
          <a:prstGeom prst="rect">
            <a:avLst/>
          </a:prstGeom>
          <a:solidFill>
            <a:srgbClr val="EEF5F6"/>
          </a:solidFill>
          <a:ln w="12700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FTQ_slika" descr="k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949439" cy="3909059"/>
          </a:xfrm>
          <a:prstGeom prst="rect">
            <a:avLst/>
          </a:prstGeom>
        </p:spPr>
      </p:pic>
      <p:sp>
        <p:nvSpPr>
          <p:cNvPr id="9" name="FTQ_oz"/>
          <p:cNvSpPr txBox="1"/>
          <p:nvPr/>
        </p:nvSpPr>
        <p:spPr>
          <a:xfrm>
            <a:off x="457200" y="5390388"/>
            <a:ext cx="69494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17656E"/>
                </a:solidFill>
                <a:latin typeface="Calibri"/>
              </a:rPr>
              <a:t>NA ZASLONU</a:t>
            </a:r>
          </a:p>
        </p:txBody>
      </p:sp>
      <p:sp>
        <p:nvSpPr>
          <p:cNvPr id="10" name="FTQ_klik"/>
          <p:cNvSpPr txBox="1"/>
          <p:nvPr/>
        </p:nvSpPr>
        <p:spPr>
          <a:xfrm>
            <a:off x="457200" y="5637276"/>
            <a:ext cx="69494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D7C90"/>
                </a:solidFill>
                <a:latin typeface="Calibri"/>
              </a:rPr>
              <a:t>Slajd sa zadatkom; QR na fortroniq.hr/kviz.</a:t>
            </a:r>
          </a:p>
        </p:txBody>
      </p:sp>
      <p:sp>
        <p:nvSpPr>
          <p:cNvPr id="11" name="ANIM_tekst"/>
          <p:cNvSpPr txBox="1"/>
          <p:nvPr/>
        </p:nvSpPr>
        <p:spPr>
          <a:xfrm>
            <a:off x="7726679" y="1325880"/>
            <a:ext cx="400781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Zadatak do sljedećeg susreta: u simulatoru nađite brzinu, KP i KD za najbrži krug bez izlijetanja i zapišite vrijeme.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Složite svoju stazu s dvije rupe, kosinom i preprekom.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Iste postavke prenesite na robota i zapišite razlike.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Sad kratki kviz na mobitelu: otvorite fortroniq.hr/kviz ili skenirajte QR kod.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TQ_pod1"/>
          <p:cNvSpPr txBox="1"/>
          <p:nvPr/>
        </p:nvSpPr>
        <p:spPr>
          <a:xfrm>
            <a:off x="457200" y="6355080"/>
            <a:ext cx="2286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10394A"/>
                </a:solidFill>
                <a:latin typeface="Calibri"/>
              </a:rPr>
              <a:t>FORTRONIQ</a:t>
            </a:r>
          </a:p>
        </p:txBody>
      </p:sp>
      <p:sp>
        <p:nvSpPr>
          <p:cNvPr id="3" name="FTQ_pod2"/>
          <p:cNvSpPr txBox="1"/>
          <p:nvPr/>
        </p:nvSpPr>
        <p:spPr>
          <a:xfrm>
            <a:off x="2926080" y="6355080"/>
            <a:ext cx="5486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© ForTroniQ d.o.o. — Sva prava pridržana</a:t>
            </a:r>
          </a:p>
        </p:txBody>
      </p:sp>
      <p:sp>
        <p:nvSpPr>
          <p:cNvPr id="4" name="FTQ_pod3"/>
          <p:cNvSpPr txBox="1"/>
          <p:nvPr/>
        </p:nvSpPr>
        <p:spPr>
          <a:xfrm>
            <a:off x="8074152" y="6355080"/>
            <a:ext cx="3657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D7C90"/>
                </a:solidFill>
                <a:latin typeface="Calibri"/>
              </a:rPr>
              <a:t>Rescue Line · Tema 1: praćenje crte</a:t>
            </a:r>
          </a:p>
        </p:txBody>
      </p:sp>
      <p:sp>
        <p:nvSpPr>
          <p:cNvPr id="5" name="FTQ_nad"/>
          <p:cNvSpPr txBox="1"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17656E"/>
                </a:solidFill>
                <a:latin typeface="Calibri"/>
              </a:rPr>
              <a:t>KRAJ · KORAK 20/20 · 86:00</a:t>
            </a:r>
          </a:p>
        </p:txBody>
      </p:sp>
      <p:sp>
        <p:nvSpPr>
          <p:cNvPr id="6" name="FTQ_naslov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 spc="-100">
                <a:solidFill>
                  <a:srgbClr val="10394A"/>
                </a:solidFill>
                <a:latin typeface="Calibri"/>
              </a:rPr>
              <a:t>Pitanja i sljedeća tema</a:t>
            </a:r>
          </a:p>
        </p:txBody>
      </p:sp>
      <p:sp>
        <p:nvSpPr>
          <p:cNvPr id="7" name="FTQ_ploca"/>
          <p:cNvSpPr/>
          <p:nvPr/>
        </p:nvSpPr>
        <p:spPr>
          <a:xfrm>
            <a:off x="411480" y="1280160"/>
            <a:ext cx="7040880" cy="4000500"/>
          </a:xfrm>
          <a:prstGeom prst="rect">
            <a:avLst/>
          </a:prstGeom>
          <a:solidFill>
            <a:srgbClr val="EEF5F6"/>
          </a:solidFill>
          <a:ln w="12700">
            <a:solidFill>
              <a:srgbClr val="DC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FTQ_slika" descr="k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6949439" cy="3909059"/>
          </a:xfrm>
          <a:prstGeom prst="rect">
            <a:avLst/>
          </a:prstGeom>
        </p:spPr>
      </p:pic>
      <p:sp>
        <p:nvSpPr>
          <p:cNvPr id="9" name="FTQ_oz"/>
          <p:cNvSpPr txBox="1"/>
          <p:nvPr/>
        </p:nvSpPr>
        <p:spPr>
          <a:xfrm>
            <a:off x="457200" y="5390388"/>
            <a:ext cx="694944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 spc="150">
                <a:solidFill>
                  <a:srgbClr val="17656E"/>
                </a:solidFill>
                <a:latin typeface="Calibri"/>
              </a:rPr>
              <a:t>NA ZASLONU</a:t>
            </a:r>
          </a:p>
        </p:txBody>
      </p:sp>
      <p:sp>
        <p:nvSpPr>
          <p:cNvPr id="10" name="FTQ_klik"/>
          <p:cNvSpPr txBox="1"/>
          <p:nvPr/>
        </p:nvSpPr>
        <p:spPr>
          <a:xfrm>
            <a:off x="457200" y="5637276"/>
            <a:ext cx="69494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D7C90"/>
                </a:solidFill>
                <a:latin typeface="Calibri"/>
              </a:rPr>
              <a:t>Slajd: tema 2 — praćenje crte kamerom (26. 11.).</a:t>
            </a:r>
          </a:p>
        </p:txBody>
      </p:sp>
      <p:sp>
        <p:nvSpPr>
          <p:cNvPr id="11" name="ANIM_tekst"/>
          <p:cNvSpPr txBox="1"/>
          <p:nvPr/>
        </p:nvSpPr>
        <p:spPr>
          <a:xfrm>
            <a:off x="7726679" y="1325880"/>
            <a:ext cx="400781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Imamo vremena za pitanja.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Sljedeći put, 26. studenoga, radimo drugu temu: praćenje crte kamerom umjesto senzora.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Pošaljite nam do tada program i fotografije robota, da sve prilagodimo baš vašoj izvedbi.</a:t>
            </a:r>
          </a:p>
          <a:p>
            <a:pPr>
              <a:lnSpc>
                <a:spcPct val="112000"/>
              </a:lnSpc>
              <a:spcAft>
                <a:spcPts val="560"/>
              </a:spcAft>
            </a:pPr>
            <a:r>
              <a:rPr sz="1600" b="0" i="0">
                <a:solidFill>
                  <a:srgbClr val="10394A"/>
                </a:solidFill>
                <a:latin typeface="Calibri"/>
              </a:rPr>
              <a:t>Hvala vam.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F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TQ_pod1"/>
          <p:cNvSpPr txBox="1"/>
          <p:nvPr/>
        </p:nvSpPr>
        <p:spPr>
          <a:xfrm>
            <a:off x="457200" y="6355080"/>
            <a:ext cx="2286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FFFFFF"/>
                </a:solidFill>
                <a:latin typeface="Calibri"/>
              </a:rPr>
              <a:t>FORTRONIQ</a:t>
            </a:r>
          </a:p>
        </p:txBody>
      </p:sp>
      <p:sp>
        <p:nvSpPr>
          <p:cNvPr id="3" name="FTQ_pod2"/>
          <p:cNvSpPr txBox="1"/>
          <p:nvPr/>
        </p:nvSpPr>
        <p:spPr>
          <a:xfrm>
            <a:off x="2926080" y="6355080"/>
            <a:ext cx="5486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ADFE2"/>
                </a:solidFill>
                <a:latin typeface="Calibri"/>
              </a:rPr>
              <a:t>© ForTroniQ d.o.o. — Sva prava pridržana</a:t>
            </a:r>
          </a:p>
        </p:txBody>
      </p:sp>
      <p:sp>
        <p:nvSpPr>
          <p:cNvPr id="4" name="FTQ_pod3"/>
          <p:cNvSpPr txBox="1"/>
          <p:nvPr/>
        </p:nvSpPr>
        <p:spPr>
          <a:xfrm>
            <a:off x="8074152" y="6355080"/>
            <a:ext cx="3657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ADFE2"/>
                </a:solidFill>
                <a:latin typeface="Calibri"/>
              </a:rPr>
              <a:t>Rescue Line · Tema 1: praćenje crte</a:t>
            </a:r>
          </a:p>
        </p:txBody>
      </p:sp>
      <p:sp>
        <p:nvSpPr>
          <p:cNvPr id="5" name="FTQ_stat"/>
          <p:cNvSpPr txBox="1"/>
          <p:nvPr/>
        </p:nvSpPr>
        <p:spPr>
          <a:xfrm>
            <a:off x="640080" y="1737360"/>
            <a:ext cx="6766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 spc="200">
                <a:solidFill>
                  <a:srgbClr val="2ECAD4"/>
                </a:solidFill>
                <a:latin typeface="Calibri"/>
              </a:rPr>
              <a:t>KVIZ CIJELE TEME</a:t>
            </a:r>
          </a:p>
        </p:txBody>
      </p:sp>
      <p:sp>
        <p:nvSpPr>
          <p:cNvPr id="6" name="FTQ_stat"/>
          <p:cNvSpPr txBox="1"/>
          <p:nvPr/>
        </p:nvSpPr>
        <p:spPr>
          <a:xfrm>
            <a:off x="640080" y="2194560"/>
            <a:ext cx="6766560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Svih 12 pitanja na mobitelu: fortroniq.hr/kviz/rescue-line-t1</a:t>
            </a:r>
          </a:p>
        </p:txBody>
      </p:sp>
      <p:sp>
        <p:nvSpPr>
          <p:cNvPr id="7" name="FTQ_stat"/>
          <p:cNvSpPr txBox="1"/>
          <p:nvPr/>
        </p:nvSpPr>
        <p:spPr>
          <a:xfrm>
            <a:off x="640080" y="4754880"/>
            <a:ext cx="6766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CADFE2"/>
                </a:solidFill>
                <a:latin typeface="Calibri"/>
              </a:rPr>
              <a:t>Skenirajte QR kod. Samostalna provjera — rješenje se vidi odmah.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CADFE2"/>
                </a:solidFill>
                <a:latin typeface="Calibri"/>
              </a:rPr>
              <a:t>dr.sc. Tomislav Pavlic, mag.ing.mech., Krunoslav Kušec, mag.ing.mech., Alen Britvić, bacc.ing.mech.</a:t>
            </a:r>
          </a:p>
        </p:txBody>
      </p:sp>
      <p:sp>
        <p:nvSpPr>
          <p:cNvPr id="8" name="FTQ_ploca"/>
          <p:cNvSpPr/>
          <p:nvPr/>
        </p:nvSpPr>
        <p:spPr>
          <a:xfrm>
            <a:off x="7772400" y="1371600"/>
            <a:ext cx="393192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qr_70357e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554480"/>
            <a:ext cx="3749040" cy="3749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7656E"/>
      </a:hlink>
      <a:folHlink>
        <a:srgbClr val="5D7C9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